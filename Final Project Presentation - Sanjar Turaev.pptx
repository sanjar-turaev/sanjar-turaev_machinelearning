
<file path=[Content_Types].xml><?xml version="1.0" encoding="utf-8"?>
<Types xmlns="http://schemas.openxmlformats.org/package/2006/content-types">
  <Default Extension="fntdata" ContentType="application/x-fontdata"/>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842" r:id="rId1"/>
  </p:sldMasterIdLst>
  <p:notesMasterIdLst>
    <p:notesMasterId r:id="rId12"/>
  </p:notesMasterIdLst>
  <p:sldIdLst>
    <p:sldId id="256" r:id="rId2"/>
    <p:sldId id="265" r:id="rId3"/>
    <p:sldId id="257" r:id="rId4"/>
    <p:sldId id="258" r:id="rId5"/>
    <p:sldId id="259" r:id="rId6"/>
    <p:sldId id="260" r:id="rId7"/>
    <p:sldId id="261" r:id="rId8"/>
    <p:sldId id="262" r:id="rId9"/>
    <p:sldId id="263" r:id="rId10"/>
    <p:sldId id="266" r:id="rId11"/>
  </p:sldIdLst>
  <p:sldSz cx="14630400" cy="8229600"/>
  <p:notesSz cx="8229600" cy="14630400"/>
  <p:embeddedFontLst>
    <p:embeddedFont>
      <p:font typeface="Arial Black" panose="020B0604020202020204" pitchFamily="34" charset="0"/>
      <p:bold r:id="rId13"/>
    </p:embeddedFont>
    <p:embeddedFont>
      <p:font typeface="Century Gothic" panose="020B0502020202020204" pitchFamily="34" charset="0"/>
      <p:regular r:id="rId14"/>
      <p:bold r:id="rId15"/>
      <p:italic r:id="rId16"/>
      <p:boldItalic r:id="rId17"/>
    </p:embeddedFont>
    <p:embeddedFont>
      <p:font typeface="Wingdings 2" pitchFamily="2" charset="2"/>
      <p:regular r:id="rId1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67"/>
    <p:restoredTop sz="73677"/>
  </p:normalViewPr>
  <p:slideViewPr>
    <p:cSldViewPr snapToGrid="0" snapToObjects="1">
      <p:cViewPr varScale="1">
        <p:scale>
          <a:sx n="73" d="100"/>
          <a:sy n="73" d="100"/>
        </p:scale>
        <p:origin x="16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6155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Sanjar Turaev, and today I’ll be presenting my final project for Advanced Machine Learning. The topic I chose is </a:t>
            </a:r>
            <a:r>
              <a:rPr lang="en-US" i="1" dirty="0"/>
              <a:t>Deep Learning Applications: A Personal Exploration into Computer Vision</a:t>
            </a:r>
            <a:r>
              <a:rPr lang="en-US" dirty="0"/>
              <a:t>. Over the next 15 minutes, I’ll walk you through how computer vision evolved, where it’s being used today, the challenges it faces, and what the future might look like."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4D337-70D2-C99B-0A09-0D5BA8126C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6E6EA-81F3-7629-58FF-DAE3792D3B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A74484-F1A1-4847-27CC-71976C5A543F}"/>
              </a:ext>
            </a:extLst>
          </p:cNvPr>
          <p:cNvSpPr>
            <a:spLocks noGrp="1"/>
          </p:cNvSpPr>
          <p:nvPr>
            <p:ph type="body" idx="1"/>
          </p:nvPr>
        </p:nvSpPr>
        <p:spPr/>
        <p:txBody>
          <a:bodyPr/>
          <a:lstStyle/>
          <a:p>
            <a:pPr>
              <a:buNone/>
            </a:pPr>
            <a:r>
              <a:rPr lang="en-US" dirty="0"/>
              <a:t>Computer vision is a fascinating branch of deep learning where we teach machines to see and interpret the world like humans do. It’s not just something futuristic — it's already everywhere in our daily lives: from facial recognition on our phones to self-driving cars and even medical diagnostics.</a:t>
            </a:r>
          </a:p>
          <a:p>
            <a:pPr>
              <a:buNone/>
            </a:pPr>
            <a:r>
              <a:rPr lang="en-US" dirty="0"/>
              <a:t>At the heart of modern computer vision are Convolutional Neural Networks, or CNNs, which learn to detect patterns automatically. More recently, Vision Transformers, or </a:t>
            </a:r>
            <a:r>
              <a:rPr lang="en-US" dirty="0" err="1"/>
              <a:t>ViTs</a:t>
            </a:r>
            <a:r>
              <a:rPr lang="en-US" dirty="0"/>
              <a:t>, have emerged, treating images more like sequences of text, allowing better global understanding.</a:t>
            </a:r>
          </a:p>
          <a:p>
            <a:r>
              <a:rPr lang="en-US" dirty="0"/>
              <a:t>In this presentation, I’ll explore the evolution, real-world applications, and future potential of this incredible technology.</a:t>
            </a:r>
          </a:p>
          <a:p>
            <a:endParaRPr lang="en-US" dirty="0"/>
          </a:p>
        </p:txBody>
      </p:sp>
      <p:sp>
        <p:nvSpPr>
          <p:cNvPr id="4" name="Slide Number Placeholder 3">
            <a:extLst>
              <a:ext uri="{FF2B5EF4-FFF2-40B4-BE49-F238E27FC236}">
                <a16:creationId xmlns:a16="http://schemas.microsoft.com/office/drawing/2014/main" id="{E36C0B02-00A9-C7CD-A96C-93B5BECBCB02}"/>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3979470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The story of computer vision can be divided into four key stages:</a:t>
            </a:r>
          </a:p>
          <a:p>
            <a:pPr>
              <a:buNone/>
            </a:pPr>
            <a:r>
              <a:rPr lang="en-US" dirty="0"/>
              <a:t>First, </a:t>
            </a:r>
            <a:r>
              <a:rPr lang="en-US" b="1" dirty="0"/>
              <a:t>Traditional Computer Vision</a:t>
            </a:r>
            <a:r>
              <a:rPr lang="en-US" dirty="0"/>
              <a:t> relied heavily on hand-crafted features. Engineers had to manually define edges or textures for models to recognize. It worked, but it was time-consuming and limited.</a:t>
            </a:r>
          </a:p>
          <a:p>
            <a:pPr>
              <a:buNone/>
            </a:pPr>
            <a:r>
              <a:rPr lang="en-US" dirty="0"/>
              <a:t>Then came the </a:t>
            </a:r>
            <a:r>
              <a:rPr lang="en-US" b="1" dirty="0"/>
              <a:t>CNN Revolution</a:t>
            </a:r>
            <a:r>
              <a:rPr lang="en-US" dirty="0"/>
              <a:t>. In 2012, </a:t>
            </a:r>
            <a:r>
              <a:rPr lang="en-US" dirty="0" err="1"/>
              <a:t>AlexNet</a:t>
            </a:r>
            <a:r>
              <a:rPr lang="en-US" dirty="0"/>
              <a:t> shocked the world by winning the ImageNet competition. It proved that deep learning could outperform traditional methods by a huge margin. Models like </a:t>
            </a:r>
            <a:r>
              <a:rPr lang="en-US" dirty="0" err="1"/>
              <a:t>VGGNet</a:t>
            </a:r>
            <a:r>
              <a:rPr lang="en-US" dirty="0"/>
              <a:t> and </a:t>
            </a:r>
            <a:r>
              <a:rPr lang="en-US" dirty="0" err="1"/>
              <a:t>ResNet</a:t>
            </a:r>
            <a:r>
              <a:rPr lang="en-US" dirty="0"/>
              <a:t> followed, improving accuracy even further.</a:t>
            </a:r>
          </a:p>
          <a:p>
            <a:pPr>
              <a:buNone/>
            </a:pPr>
            <a:r>
              <a:rPr lang="en-US" dirty="0"/>
              <a:t>Later, </a:t>
            </a:r>
            <a:r>
              <a:rPr lang="en-US" b="1" dirty="0"/>
              <a:t>Vision Transformers</a:t>
            </a:r>
            <a:r>
              <a:rPr lang="en-US" dirty="0"/>
              <a:t> introduced a totally different approach. Instead of using convolutions, they broke images into patches and processed them more globally — leading to new state-of-the-art results.</a:t>
            </a:r>
          </a:p>
          <a:p>
            <a:r>
              <a:rPr lang="en-US" dirty="0"/>
              <a:t>Finally, </a:t>
            </a:r>
            <a:r>
              <a:rPr lang="en-US" b="1" dirty="0"/>
              <a:t>Self-Supervised Learning</a:t>
            </a:r>
            <a:r>
              <a:rPr lang="en-US" dirty="0"/>
              <a:t> appeared. Methods like </a:t>
            </a:r>
            <a:r>
              <a:rPr lang="en-US" dirty="0" err="1"/>
              <a:t>SimCLR</a:t>
            </a:r>
            <a:r>
              <a:rPr lang="en-US" dirty="0"/>
              <a:t> and MoCo now allow models to learn without needing millions of labeled images, reducing the heavy dependence on manual labeling.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Healthcare is one of the most exciting areas where computer vision is making a real impact.</a:t>
            </a:r>
          </a:p>
          <a:p>
            <a:pPr>
              <a:buNone/>
            </a:pPr>
            <a:r>
              <a:rPr lang="en-US" dirty="0"/>
              <a:t>AI tools from companies like </a:t>
            </a:r>
            <a:r>
              <a:rPr lang="en-US" dirty="0" err="1"/>
              <a:t>Aidoc</a:t>
            </a:r>
            <a:r>
              <a:rPr lang="en-US" dirty="0"/>
              <a:t> and Zebra Medical Vision are helping analyze X-rays, CT scans, and MRIs to detect diseases like cancer or brain hemorrhages — often matching or even exceeding human doctor accuracy.</a:t>
            </a:r>
          </a:p>
          <a:p>
            <a:pPr>
              <a:buNone/>
            </a:pPr>
            <a:r>
              <a:rPr lang="en-US" dirty="0"/>
              <a:t>Beyond diagnosis, computer vision helps </a:t>
            </a:r>
            <a:r>
              <a:rPr lang="en-US" b="1" dirty="0"/>
              <a:t>prioritize urgent cases</a:t>
            </a:r>
            <a:r>
              <a:rPr lang="en-US" dirty="0"/>
              <a:t>, saving critical minutes in emergency rooms. It’s also being used in </a:t>
            </a:r>
            <a:r>
              <a:rPr lang="en-US" b="1" dirty="0"/>
              <a:t>digital pathology</a:t>
            </a:r>
            <a:r>
              <a:rPr lang="en-US" dirty="0"/>
              <a:t>, helping pathologists catch subtle signs of disease that could otherwise be missed.</a:t>
            </a:r>
          </a:p>
          <a:p>
            <a:r>
              <a:rPr lang="en-US" dirty="0"/>
              <a:t>Overall, the integration of computer vision into healthcare is not just about efficiency — it’s about saving lives.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Another major area is transportation, especially </a:t>
            </a:r>
            <a:r>
              <a:rPr lang="en-US" b="1" dirty="0"/>
              <a:t>autonomous vehicles</a:t>
            </a:r>
            <a:r>
              <a:rPr lang="en-US" dirty="0"/>
              <a:t>.</a:t>
            </a:r>
          </a:p>
          <a:p>
            <a:pPr>
              <a:buNone/>
            </a:pPr>
            <a:r>
              <a:rPr lang="en-US" dirty="0"/>
              <a:t>Companies like Tesla, Waymo, and Cruise use computer vision for </a:t>
            </a:r>
            <a:r>
              <a:rPr lang="en-US" b="1" dirty="0"/>
              <a:t>environmental perception</a:t>
            </a:r>
            <a:r>
              <a:rPr lang="en-US" dirty="0"/>
              <a:t> — detecting other cars, pedestrians, signs, and even changing road conditions.</a:t>
            </a:r>
          </a:p>
          <a:p>
            <a:pPr>
              <a:buNone/>
            </a:pPr>
            <a:r>
              <a:rPr lang="en-US" dirty="0"/>
              <a:t>In addition, even traditional vehicles use vision-based </a:t>
            </a:r>
            <a:r>
              <a:rPr lang="en-US" b="1" dirty="0"/>
              <a:t>Advanced Driver Assistance Systems</a:t>
            </a:r>
            <a:r>
              <a:rPr lang="en-US" dirty="0"/>
              <a:t>, like lane keeping and automatic braking, to improve safety.</a:t>
            </a:r>
          </a:p>
          <a:p>
            <a:pPr>
              <a:buNone/>
            </a:pPr>
            <a:r>
              <a:rPr lang="en-US" dirty="0"/>
              <a:t>Vision systems also help with </a:t>
            </a:r>
            <a:r>
              <a:rPr lang="en-US" b="1" dirty="0"/>
              <a:t>real-time mapping and traffic management</a:t>
            </a:r>
            <a:r>
              <a:rPr lang="en-US" dirty="0"/>
              <a:t>, creating smarter and safer cities.</a:t>
            </a:r>
          </a:p>
          <a:p>
            <a:r>
              <a:rPr lang="en-US" dirty="0"/>
              <a:t>However, autonomous driving still faces big challenges — like handling unpredictable human behavior, bad weather, and rare events that are hard for AI to predict.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Computer vision is transforming many industries beyond healthcare and transportation.</a:t>
            </a:r>
          </a:p>
          <a:p>
            <a:pPr>
              <a:buNone/>
            </a:pPr>
            <a:r>
              <a:rPr lang="en-US" dirty="0"/>
              <a:t>In </a:t>
            </a:r>
            <a:r>
              <a:rPr lang="en-US" b="1" dirty="0"/>
              <a:t>security and surveillance</a:t>
            </a:r>
            <a:r>
              <a:rPr lang="en-US" dirty="0"/>
              <a:t>, AI is used for facial recognition at airports and detecting suspicious behavior in crowds.</a:t>
            </a:r>
          </a:p>
          <a:p>
            <a:pPr>
              <a:buNone/>
            </a:pPr>
            <a:r>
              <a:rPr lang="en-US" dirty="0"/>
              <a:t>In </a:t>
            </a:r>
            <a:r>
              <a:rPr lang="en-US" b="1" dirty="0"/>
              <a:t>retail</a:t>
            </a:r>
            <a:r>
              <a:rPr lang="en-US" dirty="0"/>
              <a:t>, companies like Amazon use computer vision for cashier-less stores, inventory tracking, and personalized customer experiences.</a:t>
            </a:r>
          </a:p>
          <a:p>
            <a:pPr>
              <a:buNone/>
            </a:pPr>
            <a:r>
              <a:rPr lang="en-US" dirty="0"/>
              <a:t>In </a:t>
            </a:r>
            <a:r>
              <a:rPr lang="en-US" b="1" dirty="0"/>
              <a:t>manufacturing</a:t>
            </a:r>
            <a:r>
              <a:rPr lang="en-US" dirty="0"/>
              <a:t>, AI vision systems inspect products for defects faster and more consistently than humans, improving quality and reducing waste.</a:t>
            </a:r>
          </a:p>
          <a:p>
            <a:pPr>
              <a:buNone/>
            </a:pPr>
            <a:r>
              <a:rPr lang="en-US" dirty="0"/>
              <a:t>We even see </a:t>
            </a:r>
            <a:r>
              <a:rPr lang="en-US" b="1" dirty="0"/>
              <a:t>aerial applications</a:t>
            </a:r>
            <a:r>
              <a:rPr lang="en-US" dirty="0"/>
              <a:t> — drones using computer vision to monitor crops, inspect infrastructure, and assist in disaster response.</a:t>
            </a:r>
          </a:p>
          <a:p>
            <a:r>
              <a:rPr lang="en-US" dirty="0"/>
              <a:t>But along with these benefits come ethical concerns, like privacy, bias in facial recognition, and making sure small businesses can access these technologies fairly.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Despite the incredible progress, computer vision still faces serious challenges:</a:t>
            </a:r>
          </a:p>
          <a:p>
            <a:pPr>
              <a:buNone/>
            </a:pPr>
            <a:r>
              <a:rPr lang="en-US" b="1" dirty="0"/>
              <a:t>First</a:t>
            </a:r>
            <a:r>
              <a:rPr lang="en-US" dirty="0"/>
              <a:t>, models need massive amounts of labeled data, creating barriers for smaller organizations.</a:t>
            </a:r>
          </a:p>
          <a:p>
            <a:pPr>
              <a:buNone/>
            </a:pPr>
            <a:r>
              <a:rPr lang="en-US" b="1" dirty="0"/>
              <a:t>Second</a:t>
            </a:r>
            <a:r>
              <a:rPr lang="en-US" dirty="0"/>
              <a:t>, they are vulnerable to </a:t>
            </a:r>
            <a:r>
              <a:rPr lang="en-US" b="1" dirty="0"/>
              <a:t>adversarial attacks</a:t>
            </a:r>
            <a:r>
              <a:rPr lang="en-US" dirty="0"/>
              <a:t> — tiny image changes that can fool a system completely.</a:t>
            </a:r>
          </a:p>
          <a:p>
            <a:pPr>
              <a:buNone/>
            </a:pPr>
            <a:r>
              <a:rPr lang="en-US" b="1" dirty="0"/>
              <a:t>Third</a:t>
            </a:r>
            <a:r>
              <a:rPr lang="en-US" dirty="0"/>
              <a:t>, </a:t>
            </a:r>
            <a:r>
              <a:rPr lang="en-US" b="1" dirty="0"/>
              <a:t>limited explainability</a:t>
            </a:r>
            <a:r>
              <a:rPr lang="en-US" dirty="0"/>
              <a:t> makes it hard to trust AI decisions because many models operate as black boxes.</a:t>
            </a:r>
          </a:p>
          <a:p>
            <a:pPr>
              <a:buNone/>
            </a:pPr>
            <a:r>
              <a:rPr lang="en-US" b="1" dirty="0"/>
              <a:t>Fourth</a:t>
            </a:r>
            <a:r>
              <a:rPr lang="en-US" dirty="0"/>
              <a:t>, </a:t>
            </a:r>
            <a:r>
              <a:rPr lang="en-US" b="1" dirty="0"/>
              <a:t>energy consumption</a:t>
            </a:r>
            <a:r>
              <a:rPr lang="en-US" dirty="0"/>
              <a:t> is a growing concern — training large models uses a lot of computing power.</a:t>
            </a:r>
          </a:p>
          <a:p>
            <a:r>
              <a:rPr lang="en-US" dirty="0"/>
              <a:t>And finally, </a:t>
            </a:r>
            <a:r>
              <a:rPr lang="en-US" b="1" dirty="0"/>
              <a:t>ethical concerns</a:t>
            </a:r>
            <a:r>
              <a:rPr lang="en-US" dirty="0"/>
              <a:t> like surveillance and bias must be addressed carefully as this technology becomes more powerful.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Looking forward, the future of computer vision is full of possibilities:</a:t>
            </a:r>
          </a:p>
          <a:p>
            <a:pPr>
              <a:buNone/>
            </a:pPr>
            <a:r>
              <a:rPr lang="en-US" b="1" dirty="0"/>
              <a:t>Few-shot learning</a:t>
            </a:r>
            <a:r>
              <a:rPr lang="en-US" dirty="0"/>
              <a:t> will allow models to learn from just a handful of examples, making AI more accessible.</a:t>
            </a:r>
          </a:p>
          <a:p>
            <a:pPr>
              <a:buNone/>
            </a:pPr>
            <a:r>
              <a:rPr lang="en-US" b="1" dirty="0"/>
              <a:t>Explainable AI</a:t>
            </a:r>
            <a:r>
              <a:rPr lang="en-US" dirty="0"/>
              <a:t> aims to make decisions more transparent and trustworthy.</a:t>
            </a:r>
          </a:p>
          <a:p>
            <a:pPr>
              <a:buNone/>
            </a:pPr>
            <a:r>
              <a:rPr lang="en-US" b="1" dirty="0"/>
              <a:t>Efficient computing</a:t>
            </a:r>
            <a:r>
              <a:rPr lang="en-US" dirty="0"/>
              <a:t> will help models use less energy and run on mobile devices.</a:t>
            </a:r>
          </a:p>
          <a:p>
            <a:pPr>
              <a:buNone/>
            </a:pPr>
            <a:r>
              <a:rPr lang="en-US" dirty="0"/>
              <a:t>And </a:t>
            </a:r>
            <a:r>
              <a:rPr lang="en-US" b="1" dirty="0"/>
              <a:t>multimodal integration</a:t>
            </a:r>
            <a:r>
              <a:rPr lang="en-US" dirty="0"/>
              <a:t> will combine vision with other senses like sound or touch, creating smarter, more human-like systems.</a:t>
            </a:r>
          </a:p>
          <a:p>
            <a:r>
              <a:rPr lang="en-US" dirty="0"/>
              <a:t>These advancements promise to make computer vision more powerful, responsible, and accessible.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In conclusion, computer vision has gone from a niche research topic to a transformational force across industries.</a:t>
            </a:r>
          </a:p>
          <a:p>
            <a:pPr>
              <a:buNone/>
            </a:pPr>
            <a:r>
              <a:rPr lang="en-US" dirty="0"/>
              <a:t>We've moved from CNN breakthroughs to Vision Transformers and are now entering a future of self-supervised and multimodal AI.</a:t>
            </a:r>
          </a:p>
          <a:p>
            <a:pPr>
              <a:buNone/>
            </a:pPr>
            <a:r>
              <a:rPr lang="en-US" dirty="0"/>
              <a:t>But challenges remain — and it’s up to us as future technologists to make sure these powerful tools are developed ethically, transparently, and in ways that truly benefit society.</a:t>
            </a:r>
          </a:p>
          <a:p>
            <a:r>
              <a:rPr lang="en-US" dirty="0"/>
              <a:t>Thank you for listening!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6637B-7C17-C85C-EAF5-2A413C739D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39CFC2-3264-8B81-9730-77EF6652FE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4ECEEE-176E-0873-8A4B-4AF44AA921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9902DA-26AB-9052-3939-87E9D9BC7CF4}"/>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155298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809"/>
            <a:ext cx="14630400" cy="6244590"/>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972001" y="1738977"/>
            <a:ext cx="12686400" cy="3565261"/>
          </a:xfrm>
        </p:spPr>
        <p:txBody>
          <a:bodyPr/>
          <a:lstStyle>
            <a:lvl1pPr>
              <a:defRPr sz="6480"/>
            </a:lvl1pPr>
          </a:lstStyle>
          <a:p>
            <a:r>
              <a:rPr lang="en-US"/>
              <a:t>Click to edit Master title style</a:t>
            </a:r>
            <a:endParaRPr lang="en-US" dirty="0"/>
          </a:p>
        </p:txBody>
      </p:sp>
      <p:sp>
        <p:nvSpPr>
          <p:cNvPr id="3" name="Subtitle 2"/>
          <p:cNvSpPr>
            <a:spLocks noGrp="1"/>
          </p:cNvSpPr>
          <p:nvPr>
            <p:ph type="subTitle" idx="1"/>
          </p:nvPr>
        </p:nvSpPr>
        <p:spPr>
          <a:xfrm>
            <a:off x="972001" y="6337016"/>
            <a:ext cx="12686400" cy="521969"/>
          </a:xfrm>
        </p:spPr>
        <p:txBody>
          <a:bodyPr anchor="t"/>
          <a:lstStyle>
            <a:lvl1pPr marL="0" indent="0" algn="l">
              <a:buNone/>
              <a:defRPr>
                <a:solidFill>
                  <a:schemeClr val="tx1"/>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24577152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4630400" cy="2623186"/>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972000" y="536626"/>
            <a:ext cx="12686398" cy="1164540"/>
          </a:xfrm>
        </p:spPr>
        <p:txBody>
          <a:bodyPr/>
          <a:lstStyle/>
          <a:p>
            <a:r>
              <a:rPr lang="en-US"/>
              <a:t>Click to edit Master title style</a:t>
            </a:r>
            <a:endParaRPr lang="en-US" dirty="0"/>
          </a:p>
        </p:txBody>
      </p:sp>
      <p:sp>
        <p:nvSpPr>
          <p:cNvPr id="3" name="Content Placeholder 2"/>
          <p:cNvSpPr>
            <a:spLocks noGrp="1"/>
          </p:cNvSpPr>
          <p:nvPr>
            <p:ph idx="1"/>
          </p:nvPr>
        </p:nvSpPr>
        <p:spPr>
          <a:xfrm>
            <a:off x="982454" y="2666745"/>
            <a:ext cx="12665489" cy="43638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0534209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2"/>
            <a:ext cx="14630400" cy="6244590"/>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972000" y="3541675"/>
            <a:ext cx="12673702" cy="1762560"/>
          </a:xfrm>
        </p:spPr>
        <p:txBody>
          <a:bodyPr anchor="b"/>
          <a:lstStyle>
            <a:lvl1pPr algn="r">
              <a:defRPr sz="5760" b="1" cap="none"/>
            </a:lvl1pPr>
          </a:lstStyle>
          <a:p>
            <a:r>
              <a:rPr lang="en-US"/>
              <a:t>Click to edit Master title style</a:t>
            </a:r>
            <a:endParaRPr lang="en-US" dirty="0"/>
          </a:p>
        </p:txBody>
      </p:sp>
      <p:sp>
        <p:nvSpPr>
          <p:cNvPr id="3" name="Text Placeholder 2"/>
          <p:cNvSpPr>
            <a:spLocks noGrp="1"/>
          </p:cNvSpPr>
          <p:nvPr>
            <p:ph type="body" idx="1"/>
          </p:nvPr>
        </p:nvSpPr>
        <p:spPr>
          <a:xfrm>
            <a:off x="972000" y="6337442"/>
            <a:ext cx="12673702" cy="520746"/>
          </a:xfrm>
        </p:spPr>
        <p:txBody>
          <a:bodyPr anchor="t">
            <a:noAutofit/>
          </a:bodyPr>
          <a:lstStyle>
            <a:lvl1pPr marL="0" indent="0" algn="r">
              <a:buNone/>
              <a:defRPr sz="216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8649887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4630400" cy="2623186"/>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82455" y="2666745"/>
            <a:ext cx="6223048" cy="436651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24898" y="2666744"/>
            <a:ext cx="6233500" cy="43665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4/29/25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564978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4630400" cy="2623186"/>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7674" y="2609850"/>
            <a:ext cx="6227828" cy="691514"/>
          </a:xfrm>
        </p:spPr>
        <p:txBody>
          <a:bodyPr anchor="b">
            <a:noAutofit/>
          </a:bodyPr>
          <a:lstStyle>
            <a:lvl1pPr marL="0" indent="0" algn="ctr">
              <a:buNone/>
              <a:defRPr sz="240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977675" y="3301366"/>
            <a:ext cx="6227827" cy="3731896"/>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24898" y="2609850"/>
            <a:ext cx="6233500" cy="691514"/>
          </a:xfrm>
        </p:spPr>
        <p:txBody>
          <a:bodyPr anchor="b">
            <a:noAutofit/>
          </a:bodyPr>
          <a:lstStyle>
            <a:lvl1pPr marL="0" indent="0" algn="ctr">
              <a:buNone/>
              <a:defRPr sz="240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24898" y="3301366"/>
            <a:ext cx="6233500" cy="3731896"/>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4/29/25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0703606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4630400" cy="2623186"/>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4/29/25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2034822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4/29/25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31587655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287782" y="535305"/>
            <a:ext cx="4257040" cy="217758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287782" y="535306"/>
            <a:ext cx="4257040" cy="1942075"/>
          </a:xfrm>
        </p:spPr>
        <p:txBody>
          <a:bodyPr anchor="b"/>
          <a:lstStyle>
            <a:lvl1pPr algn="l">
              <a:defRPr sz="2400" b="1"/>
            </a:lvl1pPr>
          </a:lstStyle>
          <a:p>
            <a:r>
              <a:rPr lang="en-US"/>
              <a:t>Click to edit Master title style</a:t>
            </a:r>
            <a:endParaRPr lang="en-US" dirty="0"/>
          </a:p>
        </p:txBody>
      </p:sp>
      <p:sp>
        <p:nvSpPr>
          <p:cNvPr id="3" name="Content Placeholder 2"/>
          <p:cNvSpPr>
            <a:spLocks noGrp="1"/>
          </p:cNvSpPr>
          <p:nvPr>
            <p:ph idx="1"/>
          </p:nvPr>
        </p:nvSpPr>
        <p:spPr>
          <a:xfrm>
            <a:off x="5826760" y="535306"/>
            <a:ext cx="7503160" cy="649795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87782" y="2712886"/>
            <a:ext cx="4257040" cy="4320373"/>
          </a:xfrm>
        </p:spPr>
        <p:txBody>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4/29/25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37997603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7673" y="873027"/>
            <a:ext cx="5823586" cy="1940596"/>
          </a:xfrm>
        </p:spPr>
        <p:txBody>
          <a:bodyPr anchor="b">
            <a:normAutofit/>
          </a:bodyPr>
          <a:lstStyle>
            <a:lvl1pPr algn="l">
              <a:defRPr sz="288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7317741" y="0"/>
            <a:ext cx="7312660" cy="82296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680"/>
            </a:lvl1pPr>
          </a:lstStyle>
          <a:p>
            <a:r>
              <a:rPr lang="en-US"/>
              <a:t>Click icon to add picture</a:t>
            </a:r>
            <a:endParaRPr lang="en-US" dirty="0"/>
          </a:p>
        </p:txBody>
      </p:sp>
      <p:sp>
        <p:nvSpPr>
          <p:cNvPr id="4" name="Text Placeholder 3"/>
          <p:cNvSpPr>
            <a:spLocks noGrp="1"/>
          </p:cNvSpPr>
          <p:nvPr>
            <p:ph type="body" sz="half" idx="2"/>
          </p:nvPr>
        </p:nvSpPr>
        <p:spPr>
          <a:xfrm>
            <a:off x="977673" y="2813621"/>
            <a:ext cx="5823586" cy="4219638"/>
          </a:xfrm>
        </p:spPr>
        <p:txBody>
          <a:bodyPr anchor="t">
            <a:normAutofit/>
          </a:bodyPr>
          <a:lstStyle>
            <a:lvl1pPr marL="0" indent="0">
              <a:buNone/>
              <a:defRPr sz="144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a:xfrm>
            <a:off x="4662973" y="7249635"/>
            <a:ext cx="1172255" cy="438150"/>
          </a:xfrm>
        </p:spPr>
        <p:txBody>
          <a:bodyPr/>
          <a:lstStyle/>
          <a:p>
            <a:fld id="{C764DE79-268F-4C1A-8933-263129D2AF90}" type="datetimeFigureOut">
              <a:rPr lang="en-US" smtClean="0"/>
              <a:t>4/29/25</a:t>
            </a:fld>
            <a:endParaRPr lang="en-US" dirty="0"/>
          </a:p>
        </p:txBody>
      </p:sp>
      <p:sp>
        <p:nvSpPr>
          <p:cNvPr id="6" name="Footer Placeholder 5"/>
          <p:cNvSpPr>
            <a:spLocks noGrp="1"/>
          </p:cNvSpPr>
          <p:nvPr>
            <p:ph type="ftr" sz="quarter" idx="11"/>
          </p:nvPr>
        </p:nvSpPr>
        <p:spPr>
          <a:xfrm>
            <a:off x="708476" y="7249635"/>
            <a:ext cx="3954496" cy="438150"/>
          </a:xfrm>
        </p:spPr>
        <p:txBody>
          <a:bodyPr/>
          <a:lstStyle/>
          <a:p>
            <a:endParaRPr lang="en-US" dirty="0"/>
          </a:p>
        </p:txBody>
      </p:sp>
      <p:sp>
        <p:nvSpPr>
          <p:cNvPr id="7" name="Slide Number Placeholder 6"/>
          <p:cNvSpPr>
            <a:spLocks noGrp="1"/>
          </p:cNvSpPr>
          <p:nvPr>
            <p:ph type="sldNum" sz="quarter" idx="12"/>
          </p:nvPr>
        </p:nvSpPr>
        <p:spPr>
          <a:xfrm>
            <a:off x="5835227" y="7099066"/>
            <a:ext cx="1274586" cy="588719"/>
          </a:xfrm>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87500433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2000" y="5760720"/>
            <a:ext cx="12673702" cy="680086"/>
          </a:xfrm>
        </p:spPr>
        <p:txBody>
          <a:bodyPr anchor="b">
            <a:normAutofit/>
          </a:bodyPr>
          <a:lstStyle>
            <a:lvl1pPr algn="l">
              <a:defRPr sz="288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4630400" cy="576072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920"/>
            </a:lvl1pPr>
          </a:lstStyle>
          <a:p>
            <a:r>
              <a:rPr lang="en-US"/>
              <a:t>Click icon to add picture</a:t>
            </a:r>
            <a:endParaRPr lang="en-US" dirty="0"/>
          </a:p>
        </p:txBody>
      </p:sp>
      <p:sp>
        <p:nvSpPr>
          <p:cNvPr id="4" name="Text Placeholder 3"/>
          <p:cNvSpPr>
            <a:spLocks noGrp="1"/>
          </p:cNvSpPr>
          <p:nvPr>
            <p:ph type="body" sz="half" idx="2"/>
          </p:nvPr>
        </p:nvSpPr>
        <p:spPr>
          <a:xfrm>
            <a:off x="972000" y="6440806"/>
            <a:ext cx="12673702" cy="592454"/>
          </a:xfrm>
        </p:spPr>
        <p:txBody>
          <a:bodyPr>
            <a:normAutofit/>
          </a:bodyPr>
          <a:lstStyle>
            <a:lvl1pPr marL="0" indent="0">
              <a:buNone/>
              <a:defRPr sz="144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4/29/25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5408076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758037" y="1297747"/>
            <a:ext cx="7598899" cy="3887026"/>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21182" y="1486203"/>
            <a:ext cx="7072608" cy="3175094"/>
          </a:xfrm>
        </p:spPr>
        <p:txBody>
          <a:bodyPr anchor="b"/>
          <a:lstStyle>
            <a:lvl1pPr algn="l">
              <a:defRPr sz="5040" b="1" cap="none"/>
            </a:lvl1pPr>
          </a:lstStyle>
          <a:p>
            <a:r>
              <a:rPr lang="en-US"/>
              <a:t>Click to edit Master title style</a:t>
            </a:r>
            <a:endParaRPr lang="en-US" dirty="0"/>
          </a:p>
        </p:txBody>
      </p:sp>
      <p:sp>
        <p:nvSpPr>
          <p:cNvPr id="3" name="Text Placeholder 2"/>
          <p:cNvSpPr>
            <a:spLocks noGrp="1"/>
          </p:cNvSpPr>
          <p:nvPr>
            <p:ph type="body" idx="1"/>
          </p:nvPr>
        </p:nvSpPr>
        <p:spPr>
          <a:xfrm>
            <a:off x="1023828" y="5332417"/>
            <a:ext cx="7069963" cy="855889"/>
          </a:xfrm>
        </p:spPr>
        <p:txBody>
          <a:bodyPr anchor="t">
            <a:noAutofit/>
          </a:bodyPr>
          <a:lstStyle>
            <a:lvl1pPr marL="0" indent="0" algn="l">
              <a:buNone/>
              <a:defRPr sz="216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9089571" y="1297748"/>
            <a:ext cx="4572001" cy="4890558"/>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130169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369061" y="2743902"/>
            <a:ext cx="5874138" cy="3004766"/>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628507" y="2923149"/>
            <a:ext cx="5259025" cy="2409347"/>
          </a:xfrm>
        </p:spPr>
        <p:txBody>
          <a:bodyPr/>
          <a:lstStyle>
            <a:lvl1pPr>
              <a:defRPr sz="3840"/>
            </a:lvl1pPr>
          </a:lstStyle>
          <a:p>
            <a:r>
              <a:rPr lang="en-US"/>
              <a:t>Click to edit Master title style</a:t>
            </a:r>
            <a:endParaRPr lang="en-US" dirty="0"/>
          </a:p>
        </p:txBody>
      </p:sp>
      <p:sp>
        <p:nvSpPr>
          <p:cNvPr id="6" name="Text Placeholder 5"/>
          <p:cNvSpPr>
            <a:spLocks noGrp="1"/>
          </p:cNvSpPr>
          <p:nvPr>
            <p:ph type="body" sz="quarter" idx="16"/>
          </p:nvPr>
        </p:nvSpPr>
        <p:spPr>
          <a:xfrm>
            <a:off x="7387200" y="2743201"/>
            <a:ext cx="5856360" cy="2754630"/>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C764DE79-268F-4C1A-8933-263129D2AF90}" type="datetimeFigureOut">
              <a:rPr lang="en-US" smtClean="0"/>
              <a:t>4/29/25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7246259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4630400" cy="2623186"/>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8721826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9203582" y="535307"/>
            <a:ext cx="5426819" cy="6497954"/>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9820249" y="703405"/>
            <a:ext cx="2993749" cy="616175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972001" y="535307"/>
            <a:ext cx="7933848" cy="649795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81896937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27056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33976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14131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7420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45403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79911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66072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8937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72000" y="536626"/>
            <a:ext cx="12686398" cy="116454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972001" y="2621282"/>
            <a:ext cx="12675942" cy="4409276"/>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541817" y="7249635"/>
            <a:ext cx="10373184" cy="438150"/>
          </a:xfrm>
          <a:prstGeom prst="rect">
            <a:avLst/>
          </a:prstGeom>
        </p:spPr>
        <p:txBody>
          <a:bodyPr vert="horz" lIns="91440" tIns="45720" rIns="91440" bIns="45720" rtlCol="0" anchor="b"/>
          <a:lstStyle>
            <a:lvl1pPr algn="l">
              <a:defRPr sz="1080">
                <a:solidFill>
                  <a:schemeClr val="tx1"/>
                </a:solidFill>
              </a:defRPr>
            </a:lvl1pPr>
          </a:lstStyle>
          <a:p>
            <a:endParaRPr lang="en-US" dirty="0"/>
          </a:p>
        </p:txBody>
      </p:sp>
      <p:sp>
        <p:nvSpPr>
          <p:cNvPr id="4" name="Date Placeholder 3"/>
          <p:cNvSpPr>
            <a:spLocks noGrp="1"/>
          </p:cNvSpPr>
          <p:nvPr>
            <p:ph type="dt" sz="half" idx="2"/>
          </p:nvPr>
        </p:nvSpPr>
        <p:spPr>
          <a:xfrm>
            <a:off x="11201551" y="7249635"/>
            <a:ext cx="1612447" cy="438150"/>
          </a:xfrm>
          <a:prstGeom prst="rect">
            <a:avLst/>
          </a:prstGeom>
        </p:spPr>
        <p:txBody>
          <a:bodyPr vert="horz" lIns="91440" tIns="45720" rIns="91440" bIns="45720" rtlCol="0" anchor="b"/>
          <a:lstStyle>
            <a:lvl1pPr algn="r">
              <a:defRPr sz="1080">
                <a:solidFill>
                  <a:schemeClr val="tx1"/>
                </a:solidFill>
              </a:defRPr>
            </a:lvl1pPr>
          </a:lstStyle>
          <a:p>
            <a:fld id="{C764DE79-268F-4C1A-8933-263129D2AF90}" type="datetimeFigureOut">
              <a:rPr lang="en-US" smtClean="0"/>
              <a:t>4/29/25</a:t>
            </a:fld>
            <a:endParaRPr lang="en-US" dirty="0"/>
          </a:p>
        </p:txBody>
      </p:sp>
      <p:sp>
        <p:nvSpPr>
          <p:cNvPr id="6" name="Slide Number Placeholder 5"/>
          <p:cNvSpPr>
            <a:spLocks noGrp="1"/>
          </p:cNvSpPr>
          <p:nvPr>
            <p:ph type="sldNum" sz="quarter" idx="4"/>
          </p:nvPr>
        </p:nvSpPr>
        <p:spPr>
          <a:xfrm>
            <a:off x="12813998" y="7099066"/>
            <a:ext cx="1274586" cy="588719"/>
          </a:xfrm>
          <a:prstGeom prst="rect">
            <a:avLst/>
          </a:prstGeom>
        </p:spPr>
        <p:txBody>
          <a:bodyPr vert="horz" lIns="91440" tIns="45720" rIns="91440" bIns="10800" rtlCol="0" anchor="b"/>
          <a:lstStyle>
            <a:lvl1pPr algn="r">
              <a:defRPr sz="2400">
                <a:solidFill>
                  <a:schemeClr val="accent1"/>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934993631"/>
      </p:ext>
    </p:extLst>
  </p:cSld>
  <p:clrMap bg1="dk1" tx1="lt1" bg2="dk2" tx2="lt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 id="2147483855" r:id="rId13"/>
    <p:sldLayoutId id="2147483856" r:id="rId14"/>
    <p:sldLayoutId id="2147483857" r:id="rId15"/>
    <p:sldLayoutId id="2147483858" r:id="rId16"/>
    <p:sldLayoutId id="2147483859" r:id="rId17"/>
    <p:sldLayoutId id="2147483860" r:id="rId18"/>
    <p:sldLayoutId id="2147483861" r:id="rId19"/>
    <p:sldLayoutId id="2147483862" r:id="rId20"/>
    <p:sldLayoutId id="2147483863" r:id="rId21"/>
    <p:sldLayoutId id="2147483864" r:id="rId22"/>
  </p:sldLayoutIdLst>
  <p:hf sldNum="0" hdr="0" ftr="0" dt="0"/>
  <p:txStyles>
    <p:titleStyle>
      <a:lvl1pPr algn="l" defTabSz="548640" rtl="0" eaLnBrk="1" latinLnBrk="0" hangingPunct="1">
        <a:spcBef>
          <a:spcPct val="0"/>
        </a:spcBef>
        <a:buNone/>
        <a:defRPr sz="48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1480" indent="-411480" algn="l" defTabSz="548640" rtl="0" eaLnBrk="1" latinLnBrk="0" hangingPunct="1">
        <a:spcBef>
          <a:spcPct val="20000"/>
        </a:spcBef>
        <a:spcAft>
          <a:spcPts val="720"/>
        </a:spcAft>
        <a:buClr>
          <a:schemeClr val="accent1"/>
        </a:buClr>
        <a:buFont typeface="Wingdings 2" charset="2"/>
        <a:buChar char=""/>
        <a:defRPr sz="2160" kern="1200">
          <a:solidFill>
            <a:schemeClr val="tx1"/>
          </a:solidFill>
          <a:latin typeface="+mn-lt"/>
          <a:ea typeface="+mn-ea"/>
          <a:cs typeface="+mn-cs"/>
        </a:defRPr>
      </a:lvl1pPr>
      <a:lvl2pPr marL="891540" indent="-342900" algn="l" defTabSz="548640" rtl="0" eaLnBrk="1" latinLnBrk="0" hangingPunct="1">
        <a:spcBef>
          <a:spcPct val="20000"/>
        </a:spcBef>
        <a:spcAft>
          <a:spcPts val="720"/>
        </a:spcAft>
        <a:buClr>
          <a:schemeClr val="accent1"/>
        </a:buClr>
        <a:buFont typeface="Wingdings 2" charset="2"/>
        <a:buChar char=""/>
        <a:defRPr sz="1920" kern="1200">
          <a:solidFill>
            <a:schemeClr val="tx1"/>
          </a:solidFill>
          <a:latin typeface="+mn-lt"/>
          <a:ea typeface="+mn-ea"/>
          <a:cs typeface="+mn-cs"/>
        </a:defRPr>
      </a:lvl2pPr>
      <a:lvl3pPr marL="1371600" indent="-274320" algn="l" defTabSz="548640" rtl="0" eaLnBrk="1" latinLnBrk="0" hangingPunct="1">
        <a:spcBef>
          <a:spcPct val="20000"/>
        </a:spcBef>
        <a:spcAft>
          <a:spcPts val="720"/>
        </a:spcAft>
        <a:buClr>
          <a:schemeClr val="accent1"/>
        </a:buClr>
        <a:buFont typeface="Wingdings 2" charset="2"/>
        <a:buChar char=""/>
        <a:defRPr sz="1680" kern="1200">
          <a:solidFill>
            <a:schemeClr val="tx1"/>
          </a:solidFill>
          <a:latin typeface="+mn-lt"/>
          <a:ea typeface="+mn-ea"/>
          <a:cs typeface="+mn-cs"/>
        </a:defRPr>
      </a:lvl3pPr>
      <a:lvl4pPr marL="1920240" indent="-274320" algn="l" defTabSz="548640" rtl="0" eaLnBrk="1" latinLnBrk="0" hangingPunct="1">
        <a:spcBef>
          <a:spcPct val="20000"/>
        </a:spcBef>
        <a:spcAft>
          <a:spcPts val="720"/>
        </a:spcAft>
        <a:buClr>
          <a:schemeClr val="accent1"/>
        </a:buClr>
        <a:buFont typeface="Wingdings 2" charset="2"/>
        <a:buChar char=""/>
        <a:defRPr sz="1440" kern="1200">
          <a:solidFill>
            <a:schemeClr val="tx1"/>
          </a:solidFill>
          <a:latin typeface="+mn-lt"/>
          <a:ea typeface="+mn-ea"/>
          <a:cs typeface="+mn-cs"/>
        </a:defRPr>
      </a:lvl4pPr>
      <a:lvl5pPr marL="2468880" indent="-274320" algn="l" defTabSz="548640" rtl="0" eaLnBrk="1" latinLnBrk="0" hangingPunct="1">
        <a:spcBef>
          <a:spcPct val="20000"/>
        </a:spcBef>
        <a:spcAft>
          <a:spcPts val="720"/>
        </a:spcAft>
        <a:buClr>
          <a:schemeClr val="accent1"/>
        </a:buClr>
        <a:buFont typeface="Wingdings 2" charset="2"/>
        <a:buChar char=""/>
        <a:defRPr sz="1440" kern="1200">
          <a:solidFill>
            <a:schemeClr val="tx1"/>
          </a:solidFill>
          <a:latin typeface="+mn-lt"/>
          <a:ea typeface="+mn-ea"/>
          <a:cs typeface="+mn-cs"/>
        </a:defRPr>
      </a:lvl5pPr>
      <a:lvl6pPr marL="2880000" indent="-274320" algn="l" defTabSz="548640" rtl="0" eaLnBrk="1" latinLnBrk="0" hangingPunct="1">
        <a:spcBef>
          <a:spcPct val="20000"/>
        </a:spcBef>
        <a:spcAft>
          <a:spcPts val="720"/>
        </a:spcAft>
        <a:buClr>
          <a:schemeClr val="accent1"/>
        </a:buClr>
        <a:buFont typeface="Wingdings 2" charset="2"/>
        <a:buChar char=""/>
        <a:defRPr sz="1440" kern="1200">
          <a:solidFill>
            <a:schemeClr val="tx1"/>
          </a:solidFill>
          <a:latin typeface="+mn-lt"/>
          <a:ea typeface="+mn-ea"/>
          <a:cs typeface="+mn-cs"/>
        </a:defRPr>
      </a:lvl6pPr>
      <a:lvl7pPr marL="3360000" indent="-274320" algn="l" defTabSz="548640" rtl="0" eaLnBrk="1" latinLnBrk="0" hangingPunct="1">
        <a:spcBef>
          <a:spcPct val="20000"/>
        </a:spcBef>
        <a:spcAft>
          <a:spcPts val="720"/>
        </a:spcAft>
        <a:buClr>
          <a:schemeClr val="accent1"/>
        </a:buClr>
        <a:buFont typeface="Wingdings 2" charset="2"/>
        <a:buChar char=""/>
        <a:defRPr sz="1440" kern="1200">
          <a:solidFill>
            <a:schemeClr val="tx1"/>
          </a:solidFill>
          <a:latin typeface="+mn-lt"/>
          <a:ea typeface="+mn-ea"/>
          <a:cs typeface="+mn-cs"/>
        </a:defRPr>
      </a:lvl7pPr>
      <a:lvl8pPr marL="3840000" indent="-274320" algn="l" defTabSz="548640" rtl="0" eaLnBrk="1" latinLnBrk="0" hangingPunct="1">
        <a:spcBef>
          <a:spcPct val="20000"/>
        </a:spcBef>
        <a:spcAft>
          <a:spcPts val="720"/>
        </a:spcAft>
        <a:buClr>
          <a:schemeClr val="accent1"/>
        </a:buClr>
        <a:buFont typeface="Wingdings 2" charset="2"/>
        <a:buChar char=""/>
        <a:defRPr sz="1440" kern="1200">
          <a:solidFill>
            <a:schemeClr val="tx1"/>
          </a:solidFill>
          <a:latin typeface="+mn-lt"/>
          <a:ea typeface="+mn-ea"/>
          <a:cs typeface="+mn-cs"/>
        </a:defRPr>
      </a:lvl8pPr>
      <a:lvl9pPr marL="4320000" indent="-274320" algn="l" defTabSz="548640" rtl="0" eaLnBrk="1" latinLnBrk="0" hangingPunct="1">
        <a:spcBef>
          <a:spcPct val="20000"/>
        </a:spcBef>
        <a:spcAft>
          <a:spcPts val="720"/>
        </a:spcAft>
        <a:buClr>
          <a:schemeClr val="accent1"/>
        </a:buClr>
        <a:buFont typeface="Wingdings 2" charset="2"/>
        <a:buChar char=""/>
        <a:defRPr sz="1440" kern="1200">
          <a:solidFill>
            <a:schemeClr val="tx1"/>
          </a:solidFill>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3.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hyperlink" Target="mailto:sturaev@kent.edu" TargetMode="External"/><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18.xml"/><Relationship Id="rId7" Type="http://schemas.openxmlformats.org/officeDocument/2006/relationships/image" Target="../media/image6.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5.xml"/><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3.png"/><Relationship Id="rId3" Type="http://schemas.openxmlformats.org/officeDocument/2006/relationships/slideLayout" Target="../slideLayouts/slideLayout19.xml"/><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notesSlide" Target="../notesSlides/notesSlide6.xml"/><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slideLayout" Target="../slideLayouts/slideLayout20.xml"/><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3.png"/><Relationship Id="rId10" Type="http://schemas.openxmlformats.org/officeDocument/2006/relationships/image" Target="../media/image21.png"/><Relationship Id="rId4" Type="http://schemas.openxmlformats.org/officeDocument/2006/relationships/notesSlide" Target="../notesSlides/notesSlide7.xml"/><Relationship Id="rId9" Type="http://schemas.openxmlformats.org/officeDocument/2006/relationships/image" Target="../media/image20.png"/><Relationship Id="rId14" Type="http://schemas.openxmlformats.org/officeDocument/2006/relationships/image" Target="../media/image25.pn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slideLayout" Target="../slideLayouts/slideLayout21.xml"/><Relationship Id="rId7" Type="http://schemas.openxmlformats.org/officeDocument/2006/relationships/image" Target="../media/image28.png"/><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notesSlide" Target="../notesSlides/notesSlide8.xml"/><Relationship Id="rId9"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5"/>
          <a:stretch>
            <a:fillRect/>
          </a:stretch>
        </p:blipFill>
        <p:spPr>
          <a:xfrm>
            <a:off x="9144000" y="0"/>
            <a:ext cx="5486400" cy="8229600"/>
          </a:xfrm>
          <a:prstGeom prst="rect">
            <a:avLst/>
          </a:prstGeom>
        </p:spPr>
      </p:pic>
      <p:sp>
        <p:nvSpPr>
          <p:cNvPr id="3" name="Text 0"/>
          <p:cNvSpPr/>
          <p:nvPr/>
        </p:nvSpPr>
        <p:spPr>
          <a:xfrm>
            <a:off x="212942" y="884753"/>
            <a:ext cx="8730642" cy="1802368"/>
          </a:xfrm>
          <a:prstGeom prst="rect">
            <a:avLst/>
          </a:prstGeom>
          <a:noFill/>
          <a:ln/>
        </p:spPr>
        <p:txBody>
          <a:bodyPr wrap="square" lIns="0" tIns="0" rIns="0" bIns="0" rtlCol="0" anchor="t"/>
          <a:lstStyle/>
          <a:p>
            <a:pPr marL="0" indent="0" algn="ctr">
              <a:lnSpc>
                <a:spcPts val="4700"/>
              </a:lnSpc>
              <a:buNone/>
            </a:pPr>
            <a:r>
              <a:rPr lang="en-US" sz="4000" b="1" dirty="0">
                <a:solidFill>
                  <a:srgbClr val="97B8FF"/>
                </a:solidFill>
                <a:latin typeface="Arial Black" panose="020B0604020202020204" pitchFamily="34" charset="0"/>
                <a:ea typeface="Sora Medium" pitchFamily="34" charset="-122"/>
                <a:cs typeface="Arial Black" panose="020B0604020202020204" pitchFamily="34" charset="0"/>
              </a:rPr>
              <a:t>Deep Learning Applications: A Personal Exploration into Computer Vision</a:t>
            </a:r>
            <a:endParaRPr lang="en-US" sz="4000" b="1" dirty="0">
              <a:latin typeface="Arial Black" panose="020B0604020202020204" pitchFamily="34" charset="0"/>
              <a:cs typeface="Arial Black" panose="020B0604020202020204" pitchFamily="34" charset="0"/>
            </a:endParaRPr>
          </a:p>
        </p:txBody>
      </p:sp>
      <p:sp>
        <p:nvSpPr>
          <p:cNvPr id="4" name="Text 1"/>
          <p:cNvSpPr/>
          <p:nvPr/>
        </p:nvSpPr>
        <p:spPr>
          <a:xfrm>
            <a:off x="630070" y="3191707"/>
            <a:ext cx="8413722" cy="1230630"/>
          </a:xfrm>
          <a:prstGeom prst="rect">
            <a:avLst/>
          </a:prstGeom>
          <a:noFill/>
          <a:ln/>
        </p:spPr>
        <p:txBody>
          <a:bodyPr wrap="square" lIns="0" tIns="0" rIns="0" bIns="0" rtlCol="0" anchor="t"/>
          <a:lstStyle/>
          <a:p>
            <a:pPr>
              <a:lnSpc>
                <a:spcPts val="4700"/>
              </a:lnSpc>
            </a:pPr>
            <a:r>
              <a:rPr lang="en-US" sz="2400" b="1" dirty="0">
                <a:solidFill>
                  <a:srgbClr val="E0D6DE"/>
                </a:solidFill>
                <a:latin typeface="Arial" panose="020B0604020202020204" pitchFamily="34" charset="0"/>
                <a:ea typeface="Noto Sans TC" pitchFamily="34" charset="-122"/>
                <a:cs typeface="Arial" panose="020B0604020202020204" pitchFamily="34" charset="0"/>
              </a:rPr>
              <a:t>Final Project – Spring 2025 Advanced Machine Learning</a:t>
            </a:r>
          </a:p>
        </p:txBody>
      </p:sp>
      <p:sp>
        <p:nvSpPr>
          <p:cNvPr id="5" name="Text 2"/>
          <p:cNvSpPr/>
          <p:nvPr/>
        </p:nvSpPr>
        <p:spPr>
          <a:xfrm>
            <a:off x="672822" y="4422337"/>
            <a:ext cx="7798356" cy="2058673"/>
          </a:xfrm>
          <a:prstGeom prst="rect">
            <a:avLst/>
          </a:prstGeom>
          <a:noFill/>
          <a:ln/>
        </p:spPr>
        <p:txBody>
          <a:bodyPr wrap="square" lIns="0" tIns="0" rIns="0" bIns="0" rtlCol="0" anchor="t"/>
          <a:lstStyle/>
          <a:p>
            <a:pPr>
              <a:lnSpc>
                <a:spcPts val="4700"/>
              </a:lnSpc>
            </a:pPr>
            <a:r>
              <a:rPr lang="en-US" sz="2400" b="1" dirty="0">
                <a:solidFill>
                  <a:srgbClr val="E0D6DE"/>
                </a:solidFill>
                <a:latin typeface="Arial" panose="020B0604020202020204" pitchFamily="34" charset="0"/>
                <a:ea typeface="Noto Sans TC" pitchFamily="34" charset="-122"/>
                <a:cs typeface="Arial" panose="020B0604020202020204" pitchFamily="34" charset="0"/>
              </a:rPr>
              <a:t>Name: Sanjar Turaev</a:t>
            </a:r>
            <a:br>
              <a:rPr lang="en-US" sz="2400" b="1" dirty="0">
                <a:solidFill>
                  <a:srgbClr val="E0D6DE"/>
                </a:solidFill>
                <a:latin typeface="Arial" panose="020B0604020202020204" pitchFamily="34" charset="0"/>
                <a:ea typeface="Noto Sans TC" pitchFamily="34" charset="-122"/>
                <a:cs typeface="Arial" panose="020B0604020202020204" pitchFamily="34" charset="0"/>
              </a:rPr>
            </a:br>
            <a:r>
              <a:rPr lang="en-US" sz="2400" b="1" dirty="0">
                <a:solidFill>
                  <a:srgbClr val="E0D6DE"/>
                </a:solidFill>
                <a:latin typeface="Arial" panose="020B0604020202020204" pitchFamily="34" charset="0"/>
                <a:ea typeface="Noto Sans TC" pitchFamily="34" charset="-122"/>
                <a:cs typeface="Arial" panose="020B0604020202020204" pitchFamily="34" charset="0"/>
              </a:rPr>
              <a:t>Student ID: 811360569</a:t>
            </a:r>
            <a:br>
              <a:rPr lang="en-US" sz="2400" b="1" dirty="0">
                <a:solidFill>
                  <a:srgbClr val="E0D6DE"/>
                </a:solidFill>
                <a:latin typeface="Arial" panose="020B0604020202020204" pitchFamily="34" charset="0"/>
                <a:ea typeface="Noto Sans TC" pitchFamily="34" charset="-122"/>
                <a:cs typeface="Arial" panose="020B0604020202020204" pitchFamily="34" charset="0"/>
              </a:rPr>
            </a:br>
            <a:r>
              <a:rPr lang="en-US" sz="2400" b="1" dirty="0">
                <a:solidFill>
                  <a:srgbClr val="E0D6DE"/>
                </a:solidFill>
                <a:latin typeface="Arial" panose="020B0604020202020204" pitchFamily="34" charset="0"/>
                <a:ea typeface="Noto Sans TC" pitchFamily="34" charset="-122"/>
                <a:cs typeface="Arial" panose="020B0604020202020204" pitchFamily="34" charset="0"/>
              </a:rPr>
              <a:t>Email: </a:t>
            </a:r>
            <a:r>
              <a:rPr lang="en-US" sz="2000" b="1" dirty="0">
                <a:solidFill>
                  <a:srgbClr val="00B0F0"/>
                </a:solidFill>
                <a:latin typeface="Arial Black" panose="020B0604020202020204" pitchFamily="34" charset="0"/>
                <a:cs typeface="Arial Black" panose="020B0604020202020204" pitchFamily="34" charset="0"/>
                <a:hlinkClick r:id="rId6">
                  <a:extLst>
                    <a:ext uri="{A12FA001-AC4F-418D-AE19-62706E023703}">
                      <ahyp:hlinkClr xmlns:ahyp="http://schemas.microsoft.com/office/drawing/2018/hyperlinkcolor" val="tx"/>
                    </a:ext>
                  </a:extLst>
                </a:hlinkClick>
              </a:rPr>
              <a:t>sturaev@kent.edu</a:t>
            </a:r>
            <a:endParaRPr lang="en-US" sz="2000" b="1" dirty="0">
              <a:solidFill>
                <a:srgbClr val="00B0F0"/>
              </a:solidFill>
              <a:latin typeface="Arial Black" panose="020B0604020202020204" pitchFamily="34" charset="0"/>
              <a:cs typeface="Arial Black" panose="020B0604020202020204" pitchFamily="34" charset="0"/>
            </a:endParaRPr>
          </a:p>
        </p:txBody>
      </p:sp>
      <p:sp>
        <p:nvSpPr>
          <p:cNvPr id="8" name="Text 5"/>
          <p:cNvSpPr/>
          <p:nvPr/>
        </p:nvSpPr>
        <p:spPr>
          <a:xfrm>
            <a:off x="768310" y="7127796"/>
            <a:ext cx="116443" cy="97512"/>
          </a:xfrm>
          <a:prstGeom prst="rect">
            <a:avLst/>
          </a:prstGeom>
          <a:noFill/>
          <a:ln/>
        </p:spPr>
        <p:txBody>
          <a:bodyPr wrap="none" lIns="0" tIns="0" rIns="0" bIns="0" rtlCol="0" anchor="t"/>
          <a:lstStyle/>
          <a:p>
            <a:pPr marL="0" indent="0" algn="ctr">
              <a:lnSpc>
                <a:spcPts val="750"/>
              </a:lnSpc>
              <a:buNone/>
            </a:pPr>
            <a:r>
              <a:rPr lang="en-US" sz="750" dirty="0">
                <a:solidFill>
                  <a:srgbClr val="4D4D51"/>
                </a:solidFill>
                <a:latin typeface="Arial" panose="020B0604020202020204" pitchFamily="34" charset="0"/>
                <a:ea typeface="Noto Sans TC Medium" pitchFamily="34" charset="-122"/>
                <a:cs typeface="Arial" panose="020B0604020202020204" pitchFamily="34" charset="0"/>
              </a:rPr>
              <a:t>ST</a:t>
            </a:r>
            <a:endParaRPr lang="en-US" sz="750" dirty="0">
              <a:latin typeface="Arial" panose="020B0604020202020204" pitchFamily="34" charset="0"/>
              <a:cs typeface="Arial" panose="020B0604020202020204" pitchFamily="34" charset="0"/>
            </a:endParaRPr>
          </a:p>
        </p:txBody>
      </p:sp>
      <p:pic>
        <p:nvPicPr>
          <p:cNvPr id="7" name="Audio Recording Apr 29, 2025 at 2:39:01 PM">
            <a:hlinkClick r:id="" action="ppaction://media"/>
            <a:extLst>
              <a:ext uri="{FF2B5EF4-FFF2-40B4-BE49-F238E27FC236}">
                <a16:creationId xmlns:a16="http://schemas.microsoft.com/office/drawing/2014/main" id="{A7CF6F37-11A2-E5D3-EB55-603CD11F284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7944685" y="5991603"/>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988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930D7-0CF8-345F-6650-29DB5194E9A2}"/>
            </a:ext>
          </a:extLst>
        </p:cNvPr>
        <p:cNvGrpSpPr/>
        <p:nvPr/>
      </p:nvGrpSpPr>
      <p:grpSpPr>
        <a:xfrm>
          <a:off x="0" y="0"/>
          <a:ext cx="0" cy="0"/>
          <a:chOff x="0" y="0"/>
          <a:chExt cx="0" cy="0"/>
        </a:xfrm>
      </p:grpSpPr>
      <p:sp>
        <p:nvSpPr>
          <p:cNvPr id="25" name="Text 0">
            <a:extLst>
              <a:ext uri="{FF2B5EF4-FFF2-40B4-BE49-F238E27FC236}">
                <a16:creationId xmlns:a16="http://schemas.microsoft.com/office/drawing/2014/main" id="{E4E7E4D1-3792-D9D3-24DB-5CF772F52D6E}"/>
              </a:ext>
            </a:extLst>
          </p:cNvPr>
          <p:cNvSpPr/>
          <p:nvPr/>
        </p:nvSpPr>
        <p:spPr>
          <a:xfrm>
            <a:off x="630772" y="721916"/>
            <a:ext cx="13368856" cy="1269724"/>
          </a:xfrm>
          <a:prstGeom prst="rect">
            <a:avLst/>
          </a:prstGeom>
          <a:noFill/>
          <a:ln/>
        </p:spPr>
        <p:txBody>
          <a:bodyPr wrap="square" lIns="0" tIns="0" rIns="0" bIns="0" rtlCol="0" anchor="t"/>
          <a:lstStyle/>
          <a:p>
            <a:pPr marL="0" indent="0" algn="ctr">
              <a:lnSpc>
                <a:spcPts val="4700"/>
              </a:lnSpc>
              <a:buNone/>
            </a:pPr>
            <a:r>
              <a:rPr lang="en-US" sz="4400" b="1" dirty="0">
                <a:solidFill>
                  <a:srgbClr val="97B8FF"/>
                </a:solidFill>
                <a:latin typeface="Arial Black" panose="020B0604020202020204" pitchFamily="34" charset="0"/>
                <a:ea typeface="Sora Medium" pitchFamily="34" charset="-122"/>
                <a:cs typeface="Arial Black" panose="020B0604020202020204" pitchFamily="34" charset="0"/>
              </a:rPr>
              <a:t>Deep Learning Applications: A Personal Exploration into Computer Vision</a:t>
            </a:r>
            <a:endParaRPr lang="en-US" sz="4400" b="1" dirty="0">
              <a:latin typeface="Arial Black" panose="020B0604020202020204" pitchFamily="34" charset="0"/>
              <a:cs typeface="Arial Black" panose="020B0604020202020204" pitchFamily="34" charset="0"/>
            </a:endParaRPr>
          </a:p>
        </p:txBody>
      </p:sp>
      <p:sp>
        <p:nvSpPr>
          <p:cNvPr id="26" name="Text 1">
            <a:extLst>
              <a:ext uri="{FF2B5EF4-FFF2-40B4-BE49-F238E27FC236}">
                <a16:creationId xmlns:a16="http://schemas.microsoft.com/office/drawing/2014/main" id="{929DC630-8B0D-0C4B-9204-7564C360D56C}"/>
              </a:ext>
            </a:extLst>
          </p:cNvPr>
          <p:cNvSpPr/>
          <p:nvPr/>
        </p:nvSpPr>
        <p:spPr>
          <a:xfrm>
            <a:off x="630772" y="2729593"/>
            <a:ext cx="13080756" cy="1877914"/>
          </a:xfrm>
          <a:prstGeom prst="rect">
            <a:avLst/>
          </a:prstGeom>
          <a:noFill/>
          <a:ln/>
        </p:spPr>
        <p:txBody>
          <a:bodyPr wrap="square" lIns="0" tIns="0" rIns="0" bIns="0" rtlCol="0" anchor="t"/>
          <a:lstStyle/>
          <a:p>
            <a:pPr marL="0" indent="0" algn="just">
              <a:buNone/>
            </a:pPr>
            <a:r>
              <a:rPr lang="en-US" sz="2400" dirty="0">
                <a:solidFill>
                  <a:srgbClr val="E0D6DE"/>
                </a:solidFill>
                <a:latin typeface="Arial" panose="020B0604020202020204" pitchFamily="34" charset="0"/>
                <a:ea typeface="Noto Sans TC" pitchFamily="34" charset="-122"/>
                <a:cs typeface="Arial" panose="020B0604020202020204" pitchFamily="34" charset="0"/>
              </a:rPr>
              <a:t>Computer vision represents a fascinating frontier in deep learning, teaching machines to "see" and interpret the world as humans do. This technology has become ubiquitous in our daily lives from facial recognition and self-driving cars to medical diagnostics and social media filters.</a:t>
            </a:r>
            <a:endParaRPr lang="en-US" sz="2400" dirty="0">
              <a:latin typeface="Arial" panose="020B0604020202020204" pitchFamily="34" charset="0"/>
              <a:cs typeface="Arial" panose="020B0604020202020204" pitchFamily="34" charset="0"/>
            </a:endParaRPr>
          </a:p>
        </p:txBody>
      </p:sp>
      <p:sp>
        <p:nvSpPr>
          <p:cNvPr id="27" name="Text 2">
            <a:extLst>
              <a:ext uri="{FF2B5EF4-FFF2-40B4-BE49-F238E27FC236}">
                <a16:creationId xmlns:a16="http://schemas.microsoft.com/office/drawing/2014/main" id="{80E20BB9-360A-EE78-C979-E13C3F7EAEFF}"/>
              </a:ext>
            </a:extLst>
          </p:cNvPr>
          <p:cNvSpPr/>
          <p:nvPr/>
        </p:nvSpPr>
        <p:spPr>
          <a:xfrm>
            <a:off x="672822" y="4422338"/>
            <a:ext cx="13080756" cy="1877914"/>
          </a:xfrm>
          <a:prstGeom prst="rect">
            <a:avLst/>
          </a:prstGeom>
          <a:noFill/>
          <a:ln/>
        </p:spPr>
        <p:txBody>
          <a:bodyPr wrap="square" lIns="0" tIns="0" rIns="0" bIns="0" rtlCol="0" anchor="t"/>
          <a:lstStyle/>
          <a:p>
            <a:pPr marL="0" indent="0" algn="just">
              <a:buNone/>
            </a:pPr>
            <a:r>
              <a:rPr lang="en-US" sz="2400" dirty="0">
                <a:solidFill>
                  <a:srgbClr val="E0D6DE"/>
                </a:solidFill>
                <a:latin typeface="Arial" panose="020B0604020202020204" pitchFamily="34" charset="0"/>
                <a:ea typeface="Noto Sans TC" pitchFamily="34" charset="-122"/>
                <a:cs typeface="Arial" panose="020B0604020202020204" pitchFamily="34" charset="0"/>
              </a:rPr>
              <a:t>At the core of computer vision's advancement are Convolutional Neural Networks (CNNs), which revolutionized the field by automatically learning visual patterns. More recently, Vision Transformers (ViTs) have emerged, treating images as sequences of patches similar to how language models process text.</a:t>
            </a:r>
            <a:endParaRPr lang="en-US" sz="2400" dirty="0">
              <a:latin typeface="Arial" panose="020B0604020202020204" pitchFamily="34" charset="0"/>
              <a:cs typeface="Arial" panose="020B0604020202020204" pitchFamily="34" charset="0"/>
            </a:endParaRPr>
          </a:p>
        </p:txBody>
      </p:sp>
      <p:sp>
        <p:nvSpPr>
          <p:cNvPr id="28" name="Text 3">
            <a:extLst>
              <a:ext uri="{FF2B5EF4-FFF2-40B4-BE49-F238E27FC236}">
                <a16:creationId xmlns:a16="http://schemas.microsoft.com/office/drawing/2014/main" id="{CC947B38-A62A-C0FC-EFFC-82899986E330}"/>
              </a:ext>
            </a:extLst>
          </p:cNvPr>
          <p:cNvSpPr/>
          <p:nvPr/>
        </p:nvSpPr>
        <p:spPr>
          <a:xfrm>
            <a:off x="630772" y="6333987"/>
            <a:ext cx="13080756" cy="1408436"/>
          </a:xfrm>
          <a:prstGeom prst="rect">
            <a:avLst/>
          </a:prstGeom>
          <a:noFill/>
          <a:ln/>
        </p:spPr>
        <p:txBody>
          <a:bodyPr wrap="square" lIns="0" tIns="0" rIns="0" bIns="0" rtlCol="0" anchor="t"/>
          <a:lstStyle/>
          <a:p>
            <a:pPr marL="0" indent="0" algn="just">
              <a:buNone/>
            </a:pPr>
            <a:r>
              <a:rPr lang="en-US" sz="2400" dirty="0">
                <a:solidFill>
                  <a:srgbClr val="E0D6DE"/>
                </a:solidFill>
                <a:latin typeface="Arial" panose="020B0604020202020204" pitchFamily="34" charset="0"/>
                <a:ea typeface="Noto Sans TC" pitchFamily="34" charset="-122"/>
                <a:cs typeface="Arial" panose="020B0604020202020204" pitchFamily="34" charset="0"/>
              </a:rPr>
              <a:t>This presentation explores the evolution, current applications, and future potential of computer vision technology across various industries, highlighting both its remarkable capabilities and persistent challenges.</a:t>
            </a:r>
            <a:endParaRPr lang="en-US" sz="2400" dirty="0">
              <a:latin typeface="Arial" panose="020B0604020202020204" pitchFamily="34" charset="0"/>
              <a:cs typeface="Arial" panose="020B0604020202020204" pitchFamily="34" charset="0"/>
            </a:endParaRPr>
          </a:p>
        </p:txBody>
      </p:sp>
      <p:pic>
        <p:nvPicPr>
          <p:cNvPr id="2" name="Audio Recording Apr 29, 2025 at 2:43:57 PM">
            <a:hlinkClick r:id="" action="ppaction://media"/>
            <a:extLst>
              <a:ext uri="{FF2B5EF4-FFF2-40B4-BE49-F238E27FC236}">
                <a16:creationId xmlns:a16="http://schemas.microsoft.com/office/drawing/2014/main" id="{00292EBD-017E-D600-B957-788EC3732A2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3186828" y="6694884"/>
            <a:ext cx="812800" cy="812800"/>
          </a:xfrm>
          <a:prstGeom prst="rect">
            <a:avLst/>
          </a:prstGeom>
        </p:spPr>
      </p:pic>
    </p:spTree>
    <p:extLst>
      <p:ext uri="{BB962C8B-B14F-4D97-AF65-F5344CB8AC3E}">
        <p14:creationId xmlns:p14="http://schemas.microsoft.com/office/powerpoint/2010/main" val="3255731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702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100000">
                <p:cTn id="7" fill="hold" display="0">
                  <p:stCondLst>
                    <p:cond delay="indefinite"/>
                  </p:stCondLst>
                  <p:endCondLst>
                    <p:cond evt="onStopAudio" delay="0">
                      <p:tgtEl>
                        <p:sldTgt/>
                      </p:tgtEl>
                    </p:cond>
                  </p:endCondLst>
                </p:cTn>
                <p:tgtEl>
                  <p:spTgt spid="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48784" y="588288"/>
            <a:ext cx="9131737" cy="668536"/>
          </a:xfrm>
          <a:prstGeom prst="rect">
            <a:avLst/>
          </a:prstGeom>
          <a:noFill/>
          <a:ln/>
        </p:spPr>
        <p:txBody>
          <a:bodyPr wrap="none" lIns="0" tIns="0" rIns="0" bIns="0" rtlCol="0" anchor="t"/>
          <a:lstStyle/>
          <a:p>
            <a:pPr marL="0" indent="0" algn="l">
              <a:lnSpc>
                <a:spcPts val="5250"/>
              </a:lnSpc>
              <a:buNone/>
            </a:pPr>
            <a:r>
              <a:rPr lang="en-US" sz="4200" b="1" dirty="0">
                <a:solidFill>
                  <a:srgbClr val="97B8FF"/>
                </a:solidFill>
                <a:latin typeface="Arial Black" panose="020B0604020202020204" pitchFamily="34" charset="0"/>
                <a:ea typeface="Sora Medium" pitchFamily="34" charset="-122"/>
                <a:cs typeface="Arial Black" panose="020B0604020202020204" pitchFamily="34" charset="0"/>
              </a:rPr>
              <a:t>The Evolution of Computer Vision</a:t>
            </a:r>
            <a:endParaRPr lang="en-US" sz="4200" b="1" dirty="0">
              <a:latin typeface="Arial Black" panose="020B0604020202020204" pitchFamily="34" charset="0"/>
              <a:cs typeface="Arial Black" panose="020B0604020202020204" pitchFamily="34" charset="0"/>
            </a:endParaRPr>
          </a:p>
        </p:txBody>
      </p:sp>
      <p:sp>
        <p:nvSpPr>
          <p:cNvPr id="3" name="Shape 1"/>
          <p:cNvSpPr/>
          <p:nvPr/>
        </p:nvSpPr>
        <p:spPr>
          <a:xfrm>
            <a:off x="748784" y="4029789"/>
            <a:ext cx="13132832" cy="30480"/>
          </a:xfrm>
          <a:prstGeom prst="roundRect">
            <a:avLst>
              <a:gd name="adj" fmla="val 105291"/>
            </a:avLst>
          </a:prstGeom>
          <a:solidFill>
            <a:srgbClr val="3F3F44"/>
          </a:solidFill>
          <a:ln/>
        </p:spPr>
        <p:txBody>
          <a:bodyPr/>
          <a:lstStyle/>
          <a:p>
            <a:endParaRPr lang="en-US">
              <a:latin typeface="Arial" panose="020B0604020202020204" pitchFamily="34" charset="0"/>
              <a:cs typeface="Arial" panose="020B0604020202020204" pitchFamily="34" charset="0"/>
            </a:endParaRPr>
          </a:p>
        </p:txBody>
      </p:sp>
      <p:sp>
        <p:nvSpPr>
          <p:cNvPr id="4" name="Shape 2"/>
          <p:cNvSpPr/>
          <p:nvPr/>
        </p:nvSpPr>
        <p:spPr>
          <a:xfrm>
            <a:off x="3279696" y="3388102"/>
            <a:ext cx="30480" cy="641747"/>
          </a:xfrm>
          <a:prstGeom prst="roundRect">
            <a:avLst>
              <a:gd name="adj" fmla="val 105291"/>
            </a:avLst>
          </a:prstGeom>
          <a:solidFill>
            <a:srgbClr val="3F3F44"/>
          </a:solidFill>
          <a:ln/>
        </p:spPr>
        <p:txBody>
          <a:bodyPr/>
          <a:lstStyle/>
          <a:p>
            <a:endParaRPr lang="en-US">
              <a:latin typeface="Arial" panose="020B0604020202020204" pitchFamily="34" charset="0"/>
              <a:cs typeface="Arial" panose="020B0604020202020204" pitchFamily="34" charset="0"/>
            </a:endParaRPr>
          </a:p>
        </p:txBody>
      </p:sp>
      <p:sp>
        <p:nvSpPr>
          <p:cNvPr id="5" name="Shape 3"/>
          <p:cNvSpPr/>
          <p:nvPr/>
        </p:nvSpPr>
        <p:spPr>
          <a:xfrm>
            <a:off x="3054310" y="3789105"/>
            <a:ext cx="481370" cy="481370"/>
          </a:xfrm>
          <a:prstGeom prst="roundRect">
            <a:avLst>
              <a:gd name="adj" fmla="val 6667"/>
            </a:avLst>
          </a:prstGeom>
          <a:solidFill>
            <a:srgbClr val="26262B"/>
          </a:solidFill>
          <a:ln/>
        </p:spPr>
        <p:txBody>
          <a:bodyPr/>
          <a:lstStyle/>
          <a:p>
            <a:endParaRPr lang="en-US">
              <a:latin typeface="Arial" panose="020B0604020202020204" pitchFamily="34" charset="0"/>
              <a:cs typeface="Arial" panose="020B0604020202020204" pitchFamily="34" charset="0"/>
            </a:endParaRPr>
          </a:p>
        </p:txBody>
      </p:sp>
      <p:sp>
        <p:nvSpPr>
          <p:cNvPr id="6" name="Text 4"/>
          <p:cNvSpPr/>
          <p:nvPr/>
        </p:nvSpPr>
        <p:spPr>
          <a:xfrm>
            <a:off x="3134499" y="3829169"/>
            <a:ext cx="320873" cy="401122"/>
          </a:xfrm>
          <a:prstGeom prst="rect">
            <a:avLst/>
          </a:prstGeom>
          <a:noFill/>
          <a:ln/>
        </p:spPr>
        <p:txBody>
          <a:bodyPr wrap="none" lIns="0" tIns="0" rIns="0" bIns="0" rtlCol="0" anchor="t"/>
          <a:lstStyle/>
          <a:p>
            <a:pPr marL="0" indent="0" algn="ctr">
              <a:lnSpc>
                <a:spcPts val="2500"/>
              </a:lnSpc>
              <a:buNone/>
            </a:pPr>
            <a:r>
              <a:rPr lang="en-US" sz="2500" dirty="0">
                <a:solidFill>
                  <a:srgbClr val="E0D6DE"/>
                </a:solidFill>
                <a:latin typeface="Arial" panose="020B0604020202020204" pitchFamily="34" charset="0"/>
                <a:ea typeface="Sora Medium" pitchFamily="34" charset="-122"/>
                <a:cs typeface="Arial" panose="020B0604020202020204" pitchFamily="34" charset="0"/>
              </a:rPr>
              <a:t>1</a:t>
            </a:r>
            <a:endParaRPr lang="en-US" sz="2500" dirty="0">
              <a:latin typeface="Arial" panose="020B0604020202020204" pitchFamily="34" charset="0"/>
              <a:cs typeface="Arial" panose="020B0604020202020204" pitchFamily="34" charset="0"/>
            </a:endParaRPr>
          </a:p>
        </p:txBody>
      </p:sp>
      <p:sp>
        <p:nvSpPr>
          <p:cNvPr id="7" name="Text 5"/>
          <p:cNvSpPr/>
          <p:nvPr/>
        </p:nvSpPr>
        <p:spPr>
          <a:xfrm>
            <a:off x="1957864" y="1684615"/>
            <a:ext cx="2674382" cy="334208"/>
          </a:xfrm>
          <a:prstGeom prst="rect">
            <a:avLst/>
          </a:prstGeom>
          <a:noFill/>
          <a:ln/>
        </p:spPr>
        <p:txBody>
          <a:bodyPr wrap="none" lIns="0" tIns="0" rIns="0" bIns="0" rtlCol="0" anchor="t"/>
          <a:lstStyle/>
          <a:p>
            <a:pPr marL="0" indent="0" algn="ctr">
              <a:lnSpc>
                <a:spcPts val="2600"/>
              </a:lnSpc>
              <a:buNone/>
            </a:pPr>
            <a:r>
              <a:rPr lang="en-US" sz="2800" dirty="0">
                <a:solidFill>
                  <a:srgbClr val="E0D6DE"/>
                </a:solidFill>
                <a:latin typeface="Arial" panose="020B0604020202020204" pitchFamily="34" charset="0"/>
                <a:ea typeface="Sora Medium" pitchFamily="34" charset="-122"/>
                <a:cs typeface="Arial" panose="020B0604020202020204" pitchFamily="34" charset="0"/>
              </a:rPr>
              <a:t>Traditional CV</a:t>
            </a:r>
            <a:endParaRPr lang="en-US" sz="2800" dirty="0">
              <a:latin typeface="Arial" panose="020B0604020202020204" pitchFamily="34" charset="0"/>
              <a:cs typeface="Arial" panose="020B0604020202020204" pitchFamily="34" charset="0"/>
            </a:endParaRPr>
          </a:p>
        </p:txBody>
      </p:sp>
      <p:sp>
        <p:nvSpPr>
          <p:cNvPr id="8" name="Text 6"/>
          <p:cNvSpPr/>
          <p:nvPr/>
        </p:nvSpPr>
        <p:spPr>
          <a:xfrm>
            <a:off x="962620" y="2147173"/>
            <a:ext cx="4664988" cy="1026914"/>
          </a:xfrm>
          <a:prstGeom prst="rect">
            <a:avLst/>
          </a:prstGeom>
          <a:noFill/>
          <a:ln/>
        </p:spPr>
        <p:txBody>
          <a:bodyPr wrap="square" lIns="0" tIns="0" rIns="0" bIns="0" rtlCol="0" anchor="t"/>
          <a:lstStyle/>
          <a:p>
            <a:pPr marL="0" indent="0" algn="ctr">
              <a:lnSpc>
                <a:spcPts val="2650"/>
              </a:lnSpc>
              <a:buNone/>
            </a:pPr>
            <a:r>
              <a:rPr lang="en-US" sz="2000" dirty="0">
                <a:solidFill>
                  <a:srgbClr val="E0D6DE"/>
                </a:solidFill>
                <a:latin typeface="Arial" panose="020B0604020202020204" pitchFamily="34" charset="0"/>
                <a:ea typeface="Noto Sans TC" pitchFamily="34" charset="-122"/>
                <a:cs typeface="Arial" panose="020B0604020202020204" pitchFamily="34" charset="0"/>
              </a:rPr>
              <a:t>Early models relied on manually designed features like edges or corners, requiring significant human intervention.</a:t>
            </a:r>
            <a:endParaRPr lang="en-US" sz="2000" dirty="0">
              <a:latin typeface="Arial" panose="020B0604020202020204" pitchFamily="34" charset="0"/>
              <a:cs typeface="Arial" panose="020B0604020202020204" pitchFamily="34" charset="0"/>
            </a:endParaRPr>
          </a:p>
        </p:txBody>
      </p:sp>
      <p:sp>
        <p:nvSpPr>
          <p:cNvPr id="9" name="Shape 7"/>
          <p:cNvSpPr/>
          <p:nvPr/>
        </p:nvSpPr>
        <p:spPr>
          <a:xfrm>
            <a:off x="5959673" y="4029730"/>
            <a:ext cx="30480" cy="641747"/>
          </a:xfrm>
          <a:prstGeom prst="roundRect">
            <a:avLst>
              <a:gd name="adj" fmla="val 105291"/>
            </a:avLst>
          </a:prstGeom>
          <a:solidFill>
            <a:srgbClr val="3F3F44"/>
          </a:solidFill>
          <a:ln/>
        </p:spPr>
        <p:txBody>
          <a:bodyPr/>
          <a:lstStyle/>
          <a:p>
            <a:endParaRPr lang="en-US">
              <a:latin typeface="Arial" panose="020B0604020202020204" pitchFamily="34" charset="0"/>
              <a:cs typeface="Arial" panose="020B0604020202020204" pitchFamily="34" charset="0"/>
            </a:endParaRPr>
          </a:p>
        </p:txBody>
      </p:sp>
      <p:sp>
        <p:nvSpPr>
          <p:cNvPr id="10" name="Shape 8"/>
          <p:cNvSpPr/>
          <p:nvPr/>
        </p:nvSpPr>
        <p:spPr>
          <a:xfrm>
            <a:off x="5734288" y="3789105"/>
            <a:ext cx="481370" cy="481370"/>
          </a:xfrm>
          <a:prstGeom prst="roundRect">
            <a:avLst>
              <a:gd name="adj" fmla="val 6667"/>
            </a:avLst>
          </a:prstGeom>
          <a:solidFill>
            <a:srgbClr val="26262B"/>
          </a:solidFill>
          <a:ln/>
        </p:spPr>
        <p:txBody>
          <a:bodyPr/>
          <a:lstStyle/>
          <a:p>
            <a:endParaRPr lang="en-US">
              <a:latin typeface="Arial" panose="020B0604020202020204" pitchFamily="34" charset="0"/>
              <a:cs typeface="Arial" panose="020B0604020202020204" pitchFamily="34" charset="0"/>
            </a:endParaRPr>
          </a:p>
        </p:txBody>
      </p:sp>
      <p:sp>
        <p:nvSpPr>
          <p:cNvPr id="11" name="Text 9"/>
          <p:cNvSpPr/>
          <p:nvPr/>
        </p:nvSpPr>
        <p:spPr>
          <a:xfrm>
            <a:off x="5814477" y="3829169"/>
            <a:ext cx="320873" cy="401122"/>
          </a:xfrm>
          <a:prstGeom prst="rect">
            <a:avLst/>
          </a:prstGeom>
          <a:noFill/>
          <a:ln/>
        </p:spPr>
        <p:txBody>
          <a:bodyPr wrap="none" lIns="0" tIns="0" rIns="0" bIns="0" rtlCol="0" anchor="t"/>
          <a:lstStyle/>
          <a:p>
            <a:pPr marL="0" indent="0" algn="ctr">
              <a:lnSpc>
                <a:spcPts val="2500"/>
              </a:lnSpc>
              <a:buNone/>
            </a:pPr>
            <a:r>
              <a:rPr lang="en-US" sz="2500" dirty="0">
                <a:solidFill>
                  <a:srgbClr val="E0D6DE"/>
                </a:solidFill>
                <a:latin typeface="Arial" panose="020B0604020202020204" pitchFamily="34" charset="0"/>
                <a:ea typeface="Sora Medium" pitchFamily="34" charset="-122"/>
                <a:cs typeface="Arial" panose="020B0604020202020204" pitchFamily="34" charset="0"/>
              </a:rPr>
              <a:t>2</a:t>
            </a:r>
            <a:endParaRPr lang="en-US" sz="2500" dirty="0">
              <a:latin typeface="Arial" panose="020B0604020202020204" pitchFamily="34" charset="0"/>
              <a:cs typeface="Arial" panose="020B0604020202020204" pitchFamily="34" charset="0"/>
            </a:endParaRPr>
          </a:p>
        </p:txBody>
      </p:sp>
      <p:sp>
        <p:nvSpPr>
          <p:cNvPr id="12" name="Text 10"/>
          <p:cNvSpPr/>
          <p:nvPr/>
        </p:nvSpPr>
        <p:spPr>
          <a:xfrm>
            <a:off x="4637842" y="4885492"/>
            <a:ext cx="2674382" cy="334208"/>
          </a:xfrm>
          <a:prstGeom prst="rect">
            <a:avLst/>
          </a:prstGeom>
          <a:noFill/>
          <a:ln/>
        </p:spPr>
        <p:txBody>
          <a:bodyPr wrap="none" lIns="0" tIns="0" rIns="0" bIns="0" rtlCol="0" anchor="t"/>
          <a:lstStyle/>
          <a:p>
            <a:pPr marL="0" indent="0" algn="ctr">
              <a:lnSpc>
                <a:spcPts val="2600"/>
              </a:lnSpc>
              <a:buNone/>
            </a:pPr>
            <a:r>
              <a:rPr lang="en-US" sz="2800" dirty="0">
                <a:solidFill>
                  <a:srgbClr val="E0D6DE"/>
                </a:solidFill>
                <a:latin typeface="Arial" panose="020B0604020202020204" pitchFamily="34" charset="0"/>
                <a:ea typeface="Sora Medium" pitchFamily="34" charset="-122"/>
                <a:cs typeface="Arial" panose="020B0604020202020204" pitchFamily="34" charset="0"/>
              </a:rPr>
              <a:t>CNN Revolution</a:t>
            </a:r>
            <a:endParaRPr lang="en-US" sz="2800" dirty="0">
              <a:latin typeface="Arial" panose="020B0604020202020204" pitchFamily="34" charset="0"/>
              <a:cs typeface="Arial" panose="020B0604020202020204" pitchFamily="34" charset="0"/>
            </a:endParaRPr>
          </a:p>
        </p:txBody>
      </p:sp>
      <p:sp>
        <p:nvSpPr>
          <p:cNvPr id="13" name="Text 11"/>
          <p:cNvSpPr/>
          <p:nvPr/>
        </p:nvSpPr>
        <p:spPr>
          <a:xfrm>
            <a:off x="3642598" y="5348049"/>
            <a:ext cx="4664988" cy="1026914"/>
          </a:xfrm>
          <a:prstGeom prst="rect">
            <a:avLst/>
          </a:prstGeom>
          <a:noFill/>
          <a:ln/>
        </p:spPr>
        <p:txBody>
          <a:bodyPr wrap="square" lIns="0" tIns="0" rIns="0" bIns="0" rtlCol="0" anchor="t"/>
          <a:lstStyle/>
          <a:p>
            <a:pPr marL="0" indent="0" algn="ctr">
              <a:lnSpc>
                <a:spcPts val="2650"/>
              </a:lnSpc>
              <a:buNone/>
            </a:pPr>
            <a:r>
              <a:rPr lang="en-US" sz="2000" dirty="0">
                <a:solidFill>
                  <a:srgbClr val="E0D6DE"/>
                </a:solidFill>
                <a:latin typeface="Arial" panose="020B0604020202020204" pitchFamily="34" charset="0"/>
                <a:ea typeface="Noto Sans TC" pitchFamily="34" charset="-122"/>
                <a:cs typeface="Arial" panose="020B0604020202020204" pitchFamily="34" charset="0"/>
              </a:rPr>
              <a:t>AlexNet's 2012 ImageNet victory marked a turning point, with CNNs like VGGNet and ResNet following.</a:t>
            </a:r>
            <a:endParaRPr lang="en-US" sz="2000" dirty="0">
              <a:latin typeface="Arial" panose="020B0604020202020204" pitchFamily="34" charset="0"/>
              <a:cs typeface="Arial" panose="020B0604020202020204" pitchFamily="34" charset="0"/>
            </a:endParaRPr>
          </a:p>
        </p:txBody>
      </p:sp>
      <p:sp>
        <p:nvSpPr>
          <p:cNvPr id="14" name="Shape 12"/>
          <p:cNvSpPr/>
          <p:nvPr/>
        </p:nvSpPr>
        <p:spPr>
          <a:xfrm>
            <a:off x="8639770" y="3388102"/>
            <a:ext cx="30480" cy="641747"/>
          </a:xfrm>
          <a:prstGeom prst="roundRect">
            <a:avLst>
              <a:gd name="adj" fmla="val 105291"/>
            </a:avLst>
          </a:prstGeom>
          <a:solidFill>
            <a:srgbClr val="3F3F44"/>
          </a:solidFill>
          <a:ln/>
        </p:spPr>
        <p:txBody>
          <a:bodyPr/>
          <a:lstStyle/>
          <a:p>
            <a:endParaRPr lang="en-US">
              <a:latin typeface="Arial" panose="020B0604020202020204" pitchFamily="34" charset="0"/>
              <a:cs typeface="Arial" panose="020B0604020202020204" pitchFamily="34" charset="0"/>
            </a:endParaRPr>
          </a:p>
        </p:txBody>
      </p:sp>
      <p:sp>
        <p:nvSpPr>
          <p:cNvPr id="15" name="Shape 13"/>
          <p:cNvSpPr/>
          <p:nvPr/>
        </p:nvSpPr>
        <p:spPr>
          <a:xfrm>
            <a:off x="8414385" y="3789105"/>
            <a:ext cx="481370" cy="481370"/>
          </a:xfrm>
          <a:prstGeom prst="roundRect">
            <a:avLst>
              <a:gd name="adj" fmla="val 6667"/>
            </a:avLst>
          </a:prstGeom>
          <a:solidFill>
            <a:srgbClr val="26262B"/>
          </a:solidFill>
          <a:ln/>
        </p:spPr>
        <p:txBody>
          <a:bodyPr/>
          <a:lstStyle/>
          <a:p>
            <a:endParaRPr lang="en-US">
              <a:latin typeface="Arial" panose="020B0604020202020204" pitchFamily="34" charset="0"/>
              <a:cs typeface="Arial" panose="020B0604020202020204" pitchFamily="34" charset="0"/>
            </a:endParaRPr>
          </a:p>
        </p:txBody>
      </p:sp>
      <p:sp>
        <p:nvSpPr>
          <p:cNvPr id="16" name="Text 14"/>
          <p:cNvSpPr/>
          <p:nvPr/>
        </p:nvSpPr>
        <p:spPr>
          <a:xfrm>
            <a:off x="8494574" y="3829169"/>
            <a:ext cx="320873" cy="401122"/>
          </a:xfrm>
          <a:prstGeom prst="rect">
            <a:avLst/>
          </a:prstGeom>
          <a:noFill/>
          <a:ln/>
        </p:spPr>
        <p:txBody>
          <a:bodyPr wrap="none" lIns="0" tIns="0" rIns="0" bIns="0" rtlCol="0" anchor="t"/>
          <a:lstStyle/>
          <a:p>
            <a:pPr marL="0" indent="0" algn="ctr">
              <a:lnSpc>
                <a:spcPts val="2500"/>
              </a:lnSpc>
              <a:buNone/>
            </a:pPr>
            <a:r>
              <a:rPr lang="en-US" sz="2500" dirty="0">
                <a:solidFill>
                  <a:srgbClr val="E0D6DE"/>
                </a:solidFill>
                <a:latin typeface="Arial" panose="020B0604020202020204" pitchFamily="34" charset="0"/>
                <a:ea typeface="Sora Medium" pitchFamily="34" charset="-122"/>
                <a:cs typeface="Arial" panose="020B0604020202020204" pitchFamily="34" charset="0"/>
              </a:rPr>
              <a:t>3</a:t>
            </a:r>
            <a:endParaRPr lang="en-US" sz="2500" dirty="0">
              <a:latin typeface="Arial" panose="020B0604020202020204" pitchFamily="34" charset="0"/>
              <a:cs typeface="Arial" panose="020B0604020202020204" pitchFamily="34" charset="0"/>
            </a:endParaRPr>
          </a:p>
        </p:txBody>
      </p:sp>
      <p:sp>
        <p:nvSpPr>
          <p:cNvPr id="17" name="Text 15"/>
          <p:cNvSpPr/>
          <p:nvPr/>
        </p:nvSpPr>
        <p:spPr>
          <a:xfrm>
            <a:off x="7293173" y="1684615"/>
            <a:ext cx="2724031" cy="334208"/>
          </a:xfrm>
          <a:prstGeom prst="rect">
            <a:avLst/>
          </a:prstGeom>
          <a:noFill/>
          <a:ln/>
        </p:spPr>
        <p:txBody>
          <a:bodyPr wrap="none" lIns="0" tIns="0" rIns="0" bIns="0" rtlCol="0" anchor="t"/>
          <a:lstStyle/>
          <a:p>
            <a:pPr marL="0" indent="0" algn="ctr">
              <a:lnSpc>
                <a:spcPts val="2600"/>
              </a:lnSpc>
              <a:buNone/>
            </a:pPr>
            <a:r>
              <a:rPr lang="en-US" sz="2800" dirty="0">
                <a:solidFill>
                  <a:srgbClr val="E0D6DE"/>
                </a:solidFill>
                <a:latin typeface="Arial" panose="020B0604020202020204" pitchFamily="34" charset="0"/>
                <a:ea typeface="Sora Medium" pitchFamily="34" charset="-122"/>
                <a:cs typeface="Arial" panose="020B0604020202020204" pitchFamily="34" charset="0"/>
              </a:rPr>
              <a:t>Vision Transformers</a:t>
            </a:r>
            <a:endParaRPr lang="en-US" sz="2800" dirty="0">
              <a:latin typeface="Arial" panose="020B0604020202020204" pitchFamily="34" charset="0"/>
              <a:cs typeface="Arial" panose="020B0604020202020204" pitchFamily="34" charset="0"/>
            </a:endParaRPr>
          </a:p>
        </p:txBody>
      </p:sp>
      <p:sp>
        <p:nvSpPr>
          <p:cNvPr id="18" name="Text 16"/>
          <p:cNvSpPr/>
          <p:nvPr/>
        </p:nvSpPr>
        <p:spPr>
          <a:xfrm>
            <a:off x="6322695" y="2147173"/>
            <a:ext cx="4664988" cy="1026914"/>
          </a:xfrm>
          <a:prstGeom prst="rect">
            <a:avLst/>
          </a:prstGeom>
          <a:noFill/>
          <a:ln/>
        </p:spPr>
        <p:txBody>
          <a:bodyPr wrap="square" lIns="0" tIns="0" rIns="0" bIns="0" rtlCol="0" anchor="t"/>
          <a:lstStyle/>
          <a:p>
            <a:pPr marL="0" indent="0" algn="ctr">
              <a:lnSpc>
                <a:spcPts val="2650"/>
              </a:lnSpc>
              <a:buNone/>
            </a:pPr>
            <a:r>
              <a:rPr lang="en-US" sz="2000" dirty="0">
                <a:solidFill>
                  <a:srgbClr val="E0D6DE"/>
                </a:solidFill>
                <a:latin typeface="Arial" panose="020B0604020202020204" pitchFamily="34" charset="0"/>
                <a:ea typeface="Noto Sans TC" pitchFamily="34" charset="-122"/>
                <a:cs typeface="Arial" panose="020B0604020202020204" pitchFamily="34" charset="0"/>
              </a:rPr>
              <a:t>ViTs emerged as alternatives to CNNs, treating images as sequences of patches for better relationship modeling.</a:t>
            </a:r>
            <a:endParaRPr lang="en-US" sz="2000" dirty="0">
              <a:latin typeface="Arial" panose="020B0604020202020204" pitchFamily="34" charset="0"/>
              <a:cs typeface="Arial" panose="020B0604020202020204" pitchFamily="34" charset="0"/>
            </a:endParaRPr>
          </a:p>
        </p:txBody>
      </p:sp>
      <p:sp>
        <p:nvSpPr>
          <p:cNvPr id="19" name="Shape 17"/>
          <p:cNvSpPr/>
          <p:nvPr/>
        </p:nvSpPr>
        <p:spPr>
          <a:xfrm>
            <a:off x="11319748" y="4029730"/>
            <a:ext cx="30480" cy="641747"/>
          </a:xfrm>
          <a:prstGeom prst="roundRect">
            <a:avLst>
              <a:gd name="adj" fmla="val 105291"/>
            </a:avLst>
          </a:prstGeom>
          <a:solidFill>
            <a:srgbClr val="3F3F44"/>
          </a:solidFill>
          <a:ln/>
        </p:spPr>
        <p:txBody>
          <a:bodyPr/>
          <a:lstStyle/>
          <a:p>
            <a:endParaRPr lang="en-US">
              <a:latin typeface="Arial" panose="020B0604020202020204" pitchFamily="34" charset="0"/>
              <a:cs typeface="Arial" panose="020B0604020202020204" pitchFamily="34" charset="0"/>
            </a:endParaRPr>
          </a:p>
        </p:txBody>
      </p:sp>
      <p:sp>
        <p:nvSpPr>
          <p:cNvPr id="20" name="Shape 18"/>
          <p:cNvSpPr/>
          <p:nvPr/>
        </p:nvSpPr>
        <p:spPr>
          <a:xfrm>
            <a:off x="11094363" y="3789105"/>
            <a:ext cx="481370" cy="481370"/>
          </a:xfrm>
          <a:prstGeom prst="roundRect">
            <a:avLst>
              <a:gd name="adj" fmla="val 6667"/>
            </a:avLst>
          </a:prstGeom>
          <a:solidFill>
            <a:srgbClr val="26262B"/>
          </a:solidFill>
          <a:ln/>
        </p:spPr>
        <p:txBody>
          <a:bodyPr/>
          <a:lstStyle/>
          <a:p>
            <a:endParaRPr lang="en-US">
              <a:latin typeface="Arial" panose="020B0604020202020204" pitchFamily="34" charset="0"/>
              <a:cs typeface="Arial" panose="020B0604020202020204" pitchFamily="34" charset="0"/>
            </a:endParaRPr>
          </a:p>
        </p:txBody>
      </p:sp>
      <p:sp>
        <p:nvSpPr>
          <p:cNvPr id="21" name="Text 19"/>
          <p:cNvSpPr/>
          <p:nvPr/>
        </p:nvSpPr>
        <p:spPr>
          <a:xfrm>
            <a:off x="11174551" y="3829169"/>
            <a:ext cx="320873" cy="401122"/>
          </a:xfrm>
          <a:prstGeom prst="rect">
            <a:avLst/>
          </a:prstGeom>
          <a:noFill/>
          <a:ln/>
        </p:spPr>
        <p:txBody>
          <a:bodyPr wrap="none" lIns="0" tIns="0" rIns="0" bIns="0" rtlCol="0" anchor="t"/>
          <a:lstStyle/>
          <a:p>
            <a:pPr marL="0" indent="0" algn="ctr">
              <a:lnSpc>
                <a:spcPts val="2500"/>
              </a:lnSpc>
              <a:buNone/>
            </a:pPr>
            <a:r>
              <a:rPr lang="en-US" sz="2500" dirty="0">
                <a:solidFill>
                  <a:srgbClr val="E0D6DE"/>
                </a:solidFill>
                <a:latin typeface="Arial" panose="020B0604020202020204" pitchFamily="34" charset="0"/>
                <a:ea typeface="Sora Medium" pitchFamily="34" charset="-122"/>
                <a:cs typeface="Arial" panose="020B0604020202020204" pitchFamily="34" charset="0"/>
              </a:rPr>
              <a:t>4</a:t>
            </a:r>
            <a:endParaRPr lang="en-US" sz="2500" dirty="0">
              <a:latin typeface="Arial" panose="020B0604020202020204" pitchFamily="34" charset="0"/>
              <a:cs typeface="Arial" panose="020B0604020202020204" pitchFamily="34" charset="0"/>
            </a:endParaRPr>
          </a:p>
        </p:txBody>
      </p:sp>
      <p:sp>
        <p:nvSpPr>
          <p:cNvPr id="22" name="Text 20"/>
          <p:cNvSpPr/>
          <p:nvPr/>
        </p:nvSpPr>
        <p:spPr>
          <a:xfrm>
            <a:off x="9607748" y="4885492"/>
            <a:ext cx="3454837" cy="334208"/>
          </a:xfrm>
          <a:prstGeom prst="rect">
            <a:avLst/>
          </a:prstGeom>
          <a:noFill/>
          <a:ln/>
        </p:spPr>
        <p:txBody>
          <a:bodyPr wrap="none" lIns="0" tIns="0" rIns="0" bIns="0" rtlCol="0" anchor="t"/>
          <a:lstStyle/>
          <a:p>
            <a:pPr marL="0" indent="0" algn="ctr">
              <a:lnSpc>
                <a:spcPts val="2600"/>
              </a:lnSpc>
              <a:buNone/>
            </a:pPr>
            <a:r>
              <a:rPr lang="en-US" sz="2800" dirty="0">
                <a:solidFill>
                  <a:srgbClr val="E0D6DE"/>
                </a:solidFill>
                <a:latin typeface="Arial" panose="020B0604020202020204" pitchFamily="34" charset="0"/>
                <a:ea typeface="Sora Medium" pitchFamily="34" charset="-122"/>
                <a:cs typeface="Arial" panose="020B0604020202020204" pitchFamily="34" charset="0"/>
              </a:rPr>
              <a:t>Self-Supervised Learning</a:t>
            </a:r>
            <a:endParaRPr lang="en-US" sz="2800" dirty="0">
              <a:latin typeface="Arial" panose="020B0604020202020204" pitchFamily="34" charset="0"/>
              <a:cs typeface="Arial" panose="020B0604020202020204" pitchFamily="34" charset="0"/>
            </a:endParaRPr>
          </a:p>
        </p:txBody>
      </p:sp>
      <p:sp>
        <p:nvSpPr>
          <p:cNvPr id="23" name="Text 21"/>
          <p:cNvSpPr/>
          <p:nvPr/>
        </p:nvSpPr>
        <p:spPr>
          <a:xfrm>
            <a:off x="9002673" y="5348049"/>
            <a:ext cx="4664988" cy="684609"/>
          </a:xfrm>
          <a:prstGeom prst="rect">
            <a:avLst/>
          </a:prstGeom>
          <a:noFill/>
          <a:ln/>
        </p:spPr>
        <p:txBody>
          <a:bodyPr wrap="square" lIns="0" tIns="0" rIns="0" bIns="0" rtlCol="0" anchor="t"/>
          <a:lstStyle/>
          <a:p>
            <a:pPr marL="0" indent="0" algn="ctr">
              <a:lnSpc>
                <a:spcPts val="2650"/>
              </a:lnSpc>
              <a:buNone/>
            </a:pPr>
            <a:r>
              <a:rPr lang="en-US" sz="2000" dirty="0">
                <a:solidFill>
                  <a:srgbClr val="E0D6DE"/>
                </a:solidFill>
                <a:latin typeface="Arial" panose="020B0604020202020204" pitchFamily="34" charset="0"/>
                <a:ea typeface="Noto Sans TC" pitchFamily="34" charset="-122"/>
                <a:cs typeface="Arial" panose="020B0604020202020204" pitchFamily="34" charset="0"/>
              </a:rPr>
              <a:t>Methods like SimCLR, MoCo, and DINO now allow models to learn from unlabeled data.</a:t>
            </a:r>
            <a:endParaRPr lang="en-US" sz="2000" dirty="0">
              <a:latin typeface="Arial" panose="020B0604020202020204" pitchFamily="34" charset="0"/>
              <a:cs typeface="Arial" panose="020B0604020202020204" pitchFamily="34" charset="0"/>
            </a:endParaRPr>
          </a:p>
        </p:txBody>
      </p:sp>
      <p:sp>
        <p:nvSpPr>
          <p:cNvPr id="24" name="Text 22"/>
          <p:cNvSpPr/>
          <p:nvPr/>
        </p:nvSpPr>
        <p:spPr>
          <a:xfrm>
            <a:off x="748784" y="6615589"/>
            <a:ext cx="13132832" cy="1026914"/>
          </a:xfrm>
          <a:prstGeom prst="rect">
            <a:avLst/>
          </a:prstGeom>
          <a:noFill/>
          <a:ln/>
        </p:spPr>
        <p:txBody>
          <a:bodyPr wrap="square" lIns="0" tIns="0" rIns="0" bIns="0" rtlCol="0" anchor="t"/>
          <a:lstStyle/>
          <a:p>
            <a:pPr marL="0" indent="0" algn="l">
              <a:lnSpc>
                <a:spcPts val="2650"/>
              </a:lnSpc>
              <a:buNone/>
            </a:pPr>
            <a:r>
              <a:rPr lang="en-US" sz="2000" dirty="0">
                <a:solidFill>
                  <a:srgbClr val="E0D6DE"/>
                </a:solidFill>
                <a:latin typeface="Arial" panose="020B0604020202020204" pitchFamily="34" charset="0"/>
                <a:ea typeface="Noto Sans TC" pitchFamily="34" charset="-122"/>
                <a:cs typeface="Arial" panose="020B0604020202020204" pitchFamily="34" charset="0"/>
              </a:rPr>
              <a:t>Despite these advances, deep learning models still face significant challenges. They remain vulnerable to adversarial examples, struggle with generalization to new situations, and often function as "black boxes" with limited interpretability. Researchers are actively developing techniques to make models more robust, transparent, and efficient.</a:t>
            </a:r>
            <a:endParaRPr lang="en-US" sz="2000" dirty="0">
              <a:latin typeface="Arial" panose="020B0604020202020204" pitchFamily="34" charset="0"/>
              <a:cs typeface="Arial" panose="020B0604020202020204" pitchFamily="34" charset="0"/>
            </a:endParaRPr>
          </a:p>
        </p:txBody>
      </p:sp>
      <p:pic>
        <p:nvPicPr>
          <p:cNvPr id="25" name="Audio Recording Apr 29, 2025 at 2:48:27 PM">
            <a:hlinkClick r:id="" action="ppaction://media"/>
            <a:extLst>
              <a:ext uri="{FF2B5EF4-FFF2-40B4-BE49-F238E27FC236}">
                <a16:creationId xmlns:a16="http://schemas.microsoft.com/office/drawing/2014/main" id="{3336D0B4-17CD-5C36-413D-88DE255AB38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854861" y="180697"/>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5884"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119426"/>
            <a:ext cx="8870394" cy="708779"/>
          </a:xfrm>
          <a:prstGeom prst="rect">
            <a:avLst/>
          </a:prstGeom>
          <a:noFill/>
          <a:ln/>
        </p:spPr>
        <p:txBody>
          <a:bodyPr wrap="none" lIns="0" tIns="0" rIns="0" bIns="0" rtlCol="0" anchor="t"/>
          <a:lstStyle/>
          <a:p>
            <a:pPr marL="0" indent="0" algn="l">
              <a:lnSpc>
                <a:spcPts val="5550"/>
              </a:lnSpc>
              <a:buNone/>
            </a:pPr>
            <a:r>
              <a:rPr lang="en-US" sz="4450" b="1" dirty="0">
                <a:solidFill>
                  <a:srgbClr val="97B8FF"/>
                </a:solidFill>
                <a:latin typeface="Arial Black" panose="020B0604020202020204" pitchFamily="34" charset="0"/>
                <a:ea typeface="Sora Medium" pitchFamily="34" charset="-122"/>
                <a:cs typeface="Arial Black" panose="020B0604020202020204" pitchFamily="34" charset="0"/>
              </a:rPr>
              <a:t>Computer Vision in Healthcare</a:t>
            </a:r>
            <a:endParaRPr lang="en-US" sz="4450" b="1" dirty="0">
              <a:latin typeface="Arial Black" panose="020B0604020202020204" pitchFamily="34" charset="0"/>
              <a:cs typeface="Arial Black" panose="020B0604020202020204" pitchFamily="34" charset="0"/>
            </a:endParaRPr>
          </a:p>
        </p:txBody>
      </p:sp>
      <p:sp>
        <p:nvSpPr>
          <p:cNvPr id="3" name="Shape 1"/>
          <p:cNvSpPr/>
          <p:nvPr/>
        </p:nvSpPr>
        <p:spPr>
          <a:xfrm>
            <a:off x="793790" y="2281833"/>
            <a:ext cx="4196358" cy="3484364"/>
          </a:xfrm>
          <a:prstGeom prst="roundRect">
            <a:avLst>
              <a:gd name="adj" fmla="val 976"/>
            </a:avLst>
          </a:prstGeom>
          <a:solidFill>
            <a:srgbClr val="26262B"/>
          </a:solidFill>
          <a:ln/>
        </p:spPr>
        <p:txBody>
          <a:bodyPr/>
          <a:lstStyle/>
          <a:p>
            <a:endParaRPr lang="en-US">
              <a:latin typeface="Arial" panose="020B0604020202020204" pitchFamily="34" charset="0"/>
              <a:cs typeface="Arial" panose="020B0604020202020204" pitchFamily="34" charset="0"/>
            </a:endParaRPr>
          </a:p>
        </p:txBody>
      </p:sp>
      <p:sp>
        <p:nvSpPr>
          <p:cNvPr id="4" name="Text 2"/>
          <p:cNvSpPr/>
          <p:nvPr/>
        </p:nvSpPr>
        <p:spPr>
          <a:xfrm>
            <a:off x="1020604" y="2508647"/>
            <a:ext cx="3662839" cy="354330"/>
          </a:xfrm>
          <a:prstGeom prst="rect">
            <a:avLst/>
          </a:prstGeom>
          <a:noFill/>
          <a:ln/>
        </p:spPr>
        <p:txBody>
          <a:bodyPr wrap="none" lIns="0" tIns="0" rIns="0" bIns="0" rtlCol="0" anchor="t"/>
          <a:lstStyle/>
          <a:p>
            <a:pPr marL="0" indent="0" algn="l">
              <a:lnSpc>
                <a:spcPts val="2750"/>
              </a:lnSpc>
              <a:buNone/>
            </a:pPr>
            <a:r>
              <a:rPr lang="en-US" sz="2200" b="1" u="sng" dirty="0">
                <a:solidFill>
                  <a:srgbClr val="E0D6DE"/>
                </a:solidFill>
                <a:latin typeface="Arial" panose="020B0604020202020204" pitchFamily="34" charset="0"/>
                <a:ea typeface="Sora Medium" pitchFamily="34" charset="-122"/>
                <a:cs typeface="Arial" panose="020B0604020202020204" pitchFamily="34" charset="0"/>
              </a:rPr>
              <a:t>Medical Imaging Analysis</a:t>
            </a:r>
            <a:endParaRPr lang="en-US" sz="2200" b="1" u="sng" dirty="0">
              <a:latin typeface="Arial" panose="020B0604020202020204" pitchFamily="34" charset="0"/>
              <a:cs typeface="Arial" panose="020B0604020202020204" pitchFamily="34" charset="0"/>
            </a:endParaRPr>
          </a:p>
        </p:txBody>
      </p:sp>
      <p:sp>
        <p:nvSpPr>
          <p:cNvPr id="5" name="Text 3"/>
          <p:cNvSpPr/>
          <p:nvPr/>
        </p:nvSpPr>
        <p:spPr>
          <a:xfrm>
            <a:off x="1020604" y="2999065"/>
            <a:ext cx="3742730" cy="2540318"/>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Arial" panose="020B0604020202020204" pitchFamily="34" charset="0"/>
                <a:ea typeface="Noto Sans TC" pitchFamily="34" charset="-122"/>
                <a:cs typeface="Arial" panose="020B0604020202020204" pitchFamily="34" charset="0"/>
              </a:rPr>
              <a:t>AI tools from companies like Aidoc and Zebra Medical Vision analyze X-rays, CT scans, and MRIs to detect diseases such as cancer, pneumonia, or brain hemorrhages—sometimes with greater accuracy than human doctors.</a:t>
            </a:r>
            <a:endParaRPr lang="en-US" sz="1750" dirty="0">
              <a:latin typeface="Arial" panose="020B0604020202020204" pitchFamily="34" charset="0"/>
              <a:cs typeface="Arial" panose="020B0604020202020204" pitchFamily="34" charset="0"/>
            </a:endParaRPr>
          </a:p>
        </p:txBody>
      </p:sp>
      <p:sp>
        <p:nvSpPr>
          <p:cNvPr id="6" name="Shape 4"/>
          <p:cNvSpPr/>
          <p:nvPr/>
        </p:nvSpPr>
        <p:spPr>
          <a:xfrm>
            <a:off x="5216962" y="2281833"/>
            <a:ext cx="4196358" cy="3484364"/>
          </a:xfrm>
          <a:prstGeom prst="roundRect">
            <a:avLst>
              <a:gd name="adj" fmla="val 976"/>
            </a:avLst>
          </a:prstGeom>
          <a:solidFill>
            <a:srgbClr val="26262B"/>
          </a:solidFill>
          <a:ln/>
        </p:spPr>
        <p:txBody>
          <a:bodyPr/>
          <a:lstStyle/>
          <a:p>
            <a:endParaRPr lang="en-US">
              <a:latin typeface="Arial" panose="020B0604020202020204" pitchFamily="34" charset="0"/>
              <a:cs typeface="Arial" panose="020B0604020202020204" pitchFamily="34" charset="0"/>
            </a:endParaRPr>
          </a:p>
        </p:txBody>
      </p:sp>
      <p:sp>
        <p:nvSpPr>
          <p:cNvPr id="7" name="Text 5"/>
          <p:cNvSpPr/>
          <p:nvPr/>
        </p:nvSpPr>
        <p:spPr>
          <a:xfrm>
            <a:off x="5443776" y="2508647"/>
            <a:ext cx="2835235" cy="354330"/>
          </a:xfrm>
          <a:prstGeom prst="rect">
            <a:avLst/>
          </a:prstGeom>
          <a:noFill/>
          <a:ln/>
        </p:spPr>
        <p:txBody>
          <a:bodyPr wrap="none" lIns="0" tIns="0" rIns="0" bIns="0" rtlCol="0" anchor="t"/>
          <a:lstStyle/>
          <a:p>
            <a:pPr marL="0" indent="0" algn="l">
              <a:lnSpc>
                <a:spcPts val="2750"/>
              </a:lnSpc>
              <a:buNone/>
            </a:pPr>
            <a:r>
              <a:rPr lang="en-US" sz="2200" b="1" u="sng" dirty="0">
                <a:solidFill>
                  <a:srgbClr val="E0D6DE"/>
                </a:solidFill>
                <a:latin typeface="Arial" panose="020B0604020202020204" pitchFamily="34" charset="0"/>
                <a:ea typeface="Sora Medium" pitchFamily="34" charset="-122"/>
                <a:cs typeface="Arial" panose="020B0604020202020204" pitchFamily="34" charset="0"/>
              </a:rPr>
              <a:t>Case Prioritization</a:t>
            </a:r>
            <a:endParaRPr lang="en-US" sz="2200" b="1" u="sng" dirty="0">
              <a:latin typeface="Arial" panose="020B0604020202020204" pitchFamily="34" charset="0"/>
              <a:cs typeface="Arial" panose="020B0604020202020204" pitchFamily="34" charset="0"/>
            </a:endParaRPr>
          </a:p>
        </p:txBody>
      </p:sp>
      <p:sp>
        <p:nvSpPr>
          <p:cNvPr id="8" name="Text 6"/>
          <p:cNvSpPr/>
          <p:nvPr/>
        </p:nvSpPr>
        <p:spPr>
          <a:xfrm>
            <a:off x="5443776" y="2999065"/>
            <a:ext cx="3742730" cy="2177415"/>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Arial" panose="020B0604020202020204" pitchFamily="34" charset="0"/>
                <a:ea typeface="Noto Sans TC" pitchFamily="34" charset="-122"/>
                <a:cs typeface="Arial" panose="020B0604020202020204" pitchFamily="34" charset="0"/>
              </a:rPr>
              <a:t>Computer vision systems help medical professionals identify urgent cases, saving critical time in emergency situations where minutes can mean the difference between life and death.</a:t>
            </a:r>
            <a:endParaRPr lang="en-US" sz="1750" dirty="0">
              <a:latin typeface="Arial" panose="020B0604020202020204" pitchFamily="34" charset="0"/>
              <a:cs typeface="Arial" panose="020B0604020202020204" pitchFamily="34" charset="0"/>
            </a:endParaRPr>
          </a:p>
        </p:txBody>
      </p:sp>
      <p:sp>
        <p:nvSpPr>
          <p:cNvPr id="9" name="Shape 7"/>
          <p:cNvSpPr/>
          <p:nvPr/>
        </p:nvSpPr>
        <p:spPr>
          <a:xfrm>
            <a:off x="9640133" y="2281833"/>
            <a:ext cx="4196358" cy="3484364"/>
          </a:xfrm>
          <a:prstGeom prst="roundRect">
            <a:avLst>
              <a:gd name="adj" fmla="val 976"/>
            </a:avLst>
          </a:prstGeom>
          <a:solidFill>
            <a:srgbClr val="26262B"/>
          </a:solidFill>
          <a:ln/>
        </p:spPr>
        <p:txBody>
          <a:bodyPr/>
          <a:lstStyle/>
          <a:p>
            <a:endParaRPr lang="en-US">
              <a:latin typeface="Arial" panose="020B0604020202020204" pitchFamily="34" charset="0"/>
              <a:cs typeface="Arial" panose="020B0604020202020204" pitchFamily="34" charset="0"/>
            </a:endParaRPr>
          </a:p>
        </p:txBody>
      </p:sp>
      <p:sp>
        <p:nvSpPr>
          <p:cNvPr id="10" name="Text 8"/>
          <p:cNvSpPr/>
          <p:nvPr/>
        </p:nvSpPr>
        <p:spPr>
          <a:xfrm>
            <a:off x="9866948" y="2508647"/>
            <a:ext cx="2835235" cy="354330"/>
          </a:xfrm>
          <a:prstGeom prst="rect">
            <a:avLst/>
          </a:prstGeom>
          <a:noFill/>
          <a:ln/>
        </p:spPr>
        <p:txBody>
          <a:bodyPr wrap="none" lIns="0" tIns="0" rIns="0" bIns="0" rtlCol="0" anchor="t"/>
          <a:lstStyle/>
          <a:p>
            <a:pPr marL="0" indent="0" algn="l">
              <a:lnSpc>
                <a:spcPts val="2750"/>
              </a:lnSpc>
              <a:buNone/>
            </a:pPr>
            <a:r>
              <a:rPr lang="en-US" sz="2200" b="1" u="sng" dirty="0">
                <a:solidFill>
                  <a:srgbClr val="E0D6DE"/>
                </a:solidFill>
                <a:latin typeface="Arial" panose="020B0604020202020204" pitchFamily="34" charset="0"/>
                <a:ea typeface="Sora Medium" pitchFamily="34" charset="-122"/>
                <a:cs typeface="Arial" panose="020B0604020202020204" pitchFamily="34" charset="0"/>
              </a:rPr>
              <a:t>Digital Pathology</a:t>
            </a:r>
            <a:endParaRPr lang="en-US" sz="2200" b="1" u="sng" dirty="0">
              <a:latin typeface="Arial" panose="020B0604020202020204" pitchFamily="34" charset="0"/>
              <a:cs typeface="Arial" panose="020B0604020202020204" pitchFamily="34" charset="0"/>
            </a:endParaRPr>
          </a:p>
        </p:txBody>
      </p:sp>
      <p:sp>
        <p:nvSpPr>
          <p:cNvPr id="11" name="Text 9"/>
          <p:cNvSpPr/>
          <p:nvPr/>
        </p:nvSpPr>
        <p:spPr>
          <a:xfrm>
            <a:off x="9866948" y="2999065"/>
            <a:ext cx="3742730" cy="1814513"/>
          </a:xfrm>
          <a:prstGeom prst="rect">
            <a:avLst/>
          </a:prstGeom>
          <a:noFill/>
          <a:ln/>
        </p:spPr>
        <p:txBody>
          <a:bodyPr wrap="square" lIns="0" tIns="0" rIns="0" bIns="0" rtlCol="0" anchor="t"/>
          <a:lstStyle/>
          <a:p>
            <a:pPr marL="0" indent="0" algn="l">
              <a:lnSpc>
                <a:spcPts val="2850"/>
              </a:lnSpc>
              <a:buNone/>
            </a:pPr>
            <a:r>
              <a:rPr lang="en-US" sz="1750" dirty="0">
                <a:solidFill>
                  <a:srgbClr val="E0D6DE"/>
                </a:solidFill>
                <a:latin typeface="Arial" panose="020B0604020202020204" pitchFamily="34" charset="0"/>
                <a:ea typeface="Noto Sans TC" pitchFamily="34" charset="-122"/>
                <a:cs typeface="Arial" panose="020B0604020202020204" pitchFamily="34" charset="0"/>
              </a:rPr>
              <a:t>AI systems assist pathologists by examining tissue samples for abnormalities, potentially catching subtle signs of disease that might be missed in manual examination.</a:t>
            </a:r>
            <a:endParaRPr lang="en-US" sz="1750" dirty="0">
              <a:latin typeface="Arial" panose="020B0604020202020204" pitchFamily="34" charset="0"/>
              <a:cs typeface="Arial" panose="020B0604020202020204" pitchFamily="34" charset="0"/>
            </a:endParaRPr>
          </a:p>
        </p:txBody>
      </p:sp>
      <p:sp>
        <p:nvSpPr>
          <p:cNvPr id="12" name="Text 10"/>
          <p:cNvSpPr/>
          <p:nvPr/>
        </p:nvSpPr>
        <p:spPr>
          <a:xfrm>
            <a:off x="793790" y="6121556"/>
            <a:ext cx="13042821" cy="1088708"/>
          </a:xfrm>
          <a:prstGeom prst="rect">
            <a:avLst/>
          </a:prstGeom>
          <a:noFill/>
          <a:ln/>
        </p:spPr>
        <p:txBody>
          <a:bodyPr wrap="square" lIns="0" tIns="0" rIns="0" bIns="0" rtlCol="0" anchor="t"/>
          <a:lstStyle/>
          <a:p>
            <a:pPr marL="0" indent="0" algn="l">
              <a:lnSpc>
                <a:spcPts val="2850"/>
              </a:lnSpc>
              <a:buNone/>
            </a:pPr>
            <a:r>
              <a:rPr lang="en-US" sz="2800" dirty="0">
                <a:solidFill>
                  <a:srgbClr val="E0D6DE"/>
                </a:solidFill>
                <a:latin typeface="Arial" panose="020B0604020202020204" pitchFamily="34" charset="0"/>
                <a:ea typeface="Noto Sans TC" pitchFamily="34" charset="-122"/>
                <a:cs typeface="Arial" panose="020B0604020202020204" pitchFamily="34" charset="0"/>
              </a:rPr>
              <a:t>The integration of computer vision in healthcare represents one of the most promising applications of this technology, with the potential to improve diagnostic accuracy, reduce physician workload, and ultimately save lives through earlier detection of serious conditions.</a:t>
            </a:r>
            <a:endParaRPr lang="en-US" sz="2800" dirty="0">
              <a:latin typeface="Arial" panose="020B0604020202020204" pitchFamily="34" charset="0"/>
              <a:cs typeface="Arial" panose="020B0604020202020204" pitchFamily="34" charset="0"/>
            </a:endParaRPr>
          </a:p>
        </p:txBody>
      </p:sp>
      <p:pic>
        <p:nvPicPr>
          <p:cNvPr id="13" name="Audio Recording Apr 29, 2025 at 2:51:22 PM">
            <a:hlinkClick r:id="" action="ppaction://media"/>
            <a:extLst>
              <a:ext uri="{FF2B5EF4-FFF2-40B4-BE49-F238E27FC236}">
                <a16:creationId xmlns:a16="http://schemas.microsoft.com/office/drawing/2014/main" id="{48B4A009-966E-395B-88E9-6B1D2DC91B2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295783" y="306626"/>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938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2109" y="590074"/>
            <a:ext cx="10315575" cy="609005"/>
          </a:xfrm>
          <a:prstGeom prst="rect">
            <a:avLst/>
          </a:prstGeom>
          <a:noFill/>
          <a:ln/>
        </p:spPr>
        <p:txBody>
          <a:bodyPr wrap="none" lIns="0" tIns="0" rIns="0" bIns="0" rtlCol="0" anchor="t"/>
          <a:lstStyle/>
          <a:p>
            <a:pPr marL="0" indent="0" algn="l">
              <a:lnSpc>
                <a:spcPts val="4750"/>
              </a:lnSpc>
              <a:buNone/>
            </a:pPr>
            <a:r>
              <a:rPr lang="en-US" sz="4400" b="1" dirty="0">
                <a:solidFill>
                  <a:srgbClr val="97B8FF"/>
                </a:solidFill>
                <a:latin typeface="Arial Black" panose="020B0604020202020204" pitchFamily="34" charset="0"/>
                <a:ea typeface="Sora Medium" pitchFamily="34" charset="-122"/>
                <a:cs typeface="Arial Black" panose="020B0604020202020204" pitchFamily="34" charset="0"/>
              </a:rPr>
              <a:t>Transportation and Autonomous Vehicles</a:t>
            </a:r>
            <a:endParaRPr lang="en-US" sz="4400" b="1" dirty="0">
              <a:latin typeface="Arial Black" panose="020B0604020202020204" pitchFamily="34" charset="0"/>
              <a:cs typeface="Arial Black" panose="020B0604020202020204" pitchFamily="34" charset="0"/>
            </a:endParaRPr>
          </a:p>
        </p:txBody>
      </p:sp>
      <p:pic>
        <p:nvPicPr>
          <p:cNvPr id="3" name="Image 0" descr="preencoded.png"/>
          <p:cNvPicPr>
            <a:picLocks noChangeAspect="1"/>
          </p:cNvPicPr>
          <p:nvPr/>
        </p:nvPicPr>
        <p:blipFill>
          <a:blip r:embed="rId5"/>
          <a:stretch>
            <a:fillRect/>
          </a:stretch>
        </p:blipFill>
        <p:spPr>
          <a:xfrm>
            <a:off x="682109" y="1588770"/>
            <a:ext cx="974408" cy="1434584"/>
          </a:xfrm>
          <a:prstGeom prst="rect">
            <a:avLst/>
          </a:prstGeom>
        </p:spPr>
      </p:pic>
      <p:sp>
        <p:nvSpPr>
          <p:cNvPr id="4" name="Text 1"/>
          <p:cNvSpPr/>
          <p:nvPr/>
        </p:nvSpPr>
        <p:spPr>
          <a:xfrm>
            <a:off x="1948815" y="1783556"/>
            <a:ext cx="3232190" cy="304443"/>
          </a:xfrm>
          <a:prstGeom prst="rect">
            <a:avLst/>
          </a:prstGeom>
          <a:noFill/>
          <a:ln/>
        </p:spPr>
        <p:txBody>
          <a:bodyPr wrap="none" lIns="0" tIns="0" rIns="0" bIns="0" rtlCol="0" anchor="t"/>
          <a:lstStyle/>
          <a:p>
            <a:pPr marL="0" indent="0" algn="l">
              <a:lnSpc>
                <a:spcPts val="2350"/>
              </a:lnSpc>
              <a:buNone/>
            </a:pPr>
            <a:r>
              <a:rPr lang="en-US" sz="2400" dirty="0">
                <a:solidFill>
                  <a:srgbClr val="E0D6DE"/>
                </a:solidFill>
                <a:latin typeface="Arial" panose="020B0604020202020204" pitchFamily="34" charset="0"/>
                <a:ea typeface="Sora Medium" pitchFamily="34" charset="-122"/>
                <a:cs typeface="Arial" panose="020B0604020202020204" pitchFamily="34" charset="0"/>
              </a:rPr>
              <a:t>Environmental Perception</a:t>
            </a:r>
            <a:endParaRPr lang="en-US" sz="2400" dirty="0">
              <a:latin typeface="Arial" panose="020B0604020202020204" pitchFamily="34" charset="0"/>
              <a:cs typeface="Arial" panose="020B0604020202020204" pitchFamily="34" charset="0"/>
            </a:endParaRPr>
          </a:p>
        </p:txBody>
      </p:sp>
      <p:sp>
        <p:nvSpPr>
          <p:cNvPr id="5" name="Text 2"/>
          <p:cNvSpPr/>
          <p:nvPr/>
        </p:nvSpPr>
        <p:spPr>
          <a:xfrm>
            <a:off x="1948815" y="2204918"/>
            <a:ext cx="11999476" cy="623649"/>
          </a:xfrm>
          <a:prstGeom prst="rect">
            <a:avLst/>
          </a:prstGeom>
          <a:noFill/>
          <a:ln/>
        </p:spPr>
        <p:txBody>
          <a:bodyPr wrap="square" lIns="0" tIns="0" rIns="0" bIns="0" rtlCol="0" anchor="t"/>
          <a:lstStyle/>
          <a:p>
            <a:pPr marL="0" indent="0" algn="l">
              <a:lnSpc>
                <a:spcPts val="2450"/>
              </a:lnSpc>
              <a:buNone/>
            </a:pPr>
            <a:r>
              <a:rPr lang="en-US" dirty="0">
                <a:solidFill>
                  <a:srgbClr val="E0D6DE"/>
                </a:solidFill>
                <a:latin typeface="Arial" panose="020B0604020202020204" pitchFamily="34" charset="0"/>
                <a:ea typeface="Noto Sans TC" pitchFamily="34" charset="-122"/>
                <a:cs typeface="Arial" panose="020B0604020202020204" pitchFamily="34" charset="0"/>
              </a:rPr>
              <a:t>Self-driving vehicles from Tesla, Waymo, and Cruise use computer vision to identify other vehicles, pedestrians, traffic signs, and lane markings.</a:t>
            </a:r>
            <a:endParaRPr lang="en-US" dirty="0">
              <a:latin typeface="Arial" panose="020B0604020202020204" pitchFamily="34" charset="0"/>
              <a:cs typeface="Arial" panose="020B0604020202020204" pitchFamily="34" charset="0"/>
            </a:endParaRPr>
          </a:p>
        </p:txBody>
      </p:sp>
      <p:pic>
        <p:nvPicPr>
          <p:cNvPr id="6" name="Image 1" descr="preencoded.png"/>
          <p:cNvPicPr>
            <a:picLocks noChangeAspect="1"/>
          </p:cNvPicPr>
          <p:nvPr/>
        </p:nvPicPr>
        <p:blipFill>
          <a:blip r:embed="rId6"/>
          <a:stretch>
            <a:fillRect/>
          </a:stretch>
        </p:blipFill>
        <p:spPr>
          <a:xfrm>
            <a:off x="682109" y="3023354"/>
            <a:ext cx="974408" cy="1434584"/>
          </a:xfrm>
          <a:prstGeom prst="rect">
            <a:avLst/>
          </a:prstGeom>
        </p:spPr>
      </p:pic>
      <p:sp>
        <p:nvSpPr>
          <p:cNvPr id="7" name="Text 3"/>
          <p:cNvSpPr/>
          <p:nvPr/>
        </p:nvSpPr>
        <p:spPr>
          <a:xfrm>
            <a:off x="1948815" y="3218140"/>
            <a:ext cx="3483769" cy="304443"/>
          </a:xfrm>
          <a:prstGeom prst="rect">
            <a:avLst/>
          </a:prstGeom>
          <a:noFill/>
          <a:ln/>
        </p:spPr>
        <p:txBody>
          <a:bodyPr wrap="none" lIns="0" tIns="0" rIns="0" bIns="0" rtlCol="0" anchor="t"/>
          <a:lstStyle/>
          <a:p>
            <a:pPr marL="0" indent="0" algn="l">
              <a:lnSpc>
                <a:spcPts val="2350"/>
              </a:lnSpc>
              <a:buNone/>
            </a:pPr>
            <a:r>
              <a:rPr lang="en-US" sz="2400" dirty="0">
                <a:solidFill>
                  <a:srgbClr val="E0D6DE"/>
                </a:solidFill>
                <a:latin typeface="Arial" panose="020B0604020202020204" pitchFamily="34" charset="0"/>
                <a:ea typeface="Sora Medium" pitchFamily="34" charset="-122"/>
                <a:cs typeface="Arial" panose="020B0604020202020204" pitchFamily="34" charset="0"/>
              </a:rPr>
              <a:t>Advanced Driver Assistance</a:t>
            </a:r>
            <a:endParaRPr lang="en-US" sz="2400" dirty="0">
              <a:latin typeface="Arial" panose="020B0604020202020204" pitchFamily="34" charset="0"/>
              <a:cs typeface="Arial" panose="020B0604020202020204" pitchFamily="34" charset="0"/>
            </a:endParaRPr>
          </a:p>
        </p:txBody>
      </p:sp>
      <p:sp>
        <p:nvSpPr>
          <p:cNvPr id="8" name="Text 4"/>
          <p:cNvSpPr/>
          <p:nvPr/>
        </p:nvSpPr>
        <p:spPr>
          <a:xfrm>
            <a:off x="1948815" y="3639503"/>
            <a:ext cx="11999476" cy="623649"/>
          </a:xfrm>
          <a:prstGeom prst="rect">
            <a:avLst/>
          </a:prstGeom>
          <a:noFill/>
          <a:ln/>
        </p:spPr>
        <p:txBody>
          <a:bodyPr wrap="square" lIns="0" tIns="0" rIns="0" bIns="0" rtlCol="0" anchor="t"/>
          <a:lstStyle/>
          <a:p>
            <a:pPr marL="0" indent="0" algn="l">
              <a:lnSpc>
                <a:spcPts val="2450"/>
              </a:lnSpc>
              <a:buNone/>
            </a:pPr>
            <a:r>
              <a:rPr lang="en-US" dirty="0">
                <a:solidFill>
                  <a:srgbClr val="E0D6DE"/>
                </a:solidFill>
                <a:latin typeface="Arial" panose="020B0604020202020204" pitchFamily="34" charset="0"/>
                <a:ea typeface="Noto Sans TC" pitchFamily="34" charset="-122"/>
                <a:cs typeface="Arial" panose="020B0604020202020204" pitchFamily="34" charset="0"/>
              </a:rPr>
              <a:t>Modern cars incorporate ADAS features like automatic emergency braking and lane-keeping assistance, enhancing safety even in human-driven vehicles.</a:t>
            </a:r>
            <a:endParaRPr lang="en-US" dirty="0">
              <a:latin typeface="Arial" panose="020B0604020202020204" pitchFamily="34" charset="0"/>
              <a:cs typeface="Arial" panose="020B0604020202020204" pitchFamily="34" charset="0"/>
            </a:endParaRPr>
          </a:p>
        </p:txBody>
      </p:sp>
      <p:pic>
        <p:nvPicPr>
          <p:cNvPr id="9" name="Image 2" descr="preencoded.png"/>
          <p:cNvPicPr>
            <a:picLocks noChangeAspect="1"/>
          </p:cNvPicPr>
          <p:nvPr/>
        </p:nvPicPr>
        <p:blipFill>
          <a:blip r:embed="rId7"/>
          <a:stretch>
            <a:fillRect/>
          </a:stretch>
        </p:blipFill>
        <p:spPr>
          <a:xfrm>
            <a:off x="682109" y="4457938"/>
            <a:ext cx="974408" cy="1169313"/>
          </a:xfrm>
          <a:prstGeom prst="rect">
            <a:avLst/>
          </a:prstGeom>
        </p:spPr>
      </p:pic>
      <p:sp>
        <p:nvSpPr>
          <p:cNvPr id="10" name="Text 5"/>
          <p:cNvSpPr/>
          <p:nvPr/>
        </p:nvSpPr>
        <p:spPr>
          <a:xfrm>
            <a:off x="1948815" y="4652724"/>
            <a:ext cx="3059906" cy="304443"/>
          </a:xfrm>
          <a:prstGeom prst="rect">
            <a:avLst/>
          </a:prstGeom>
          <a:noFill/>
          <a:ln/>
        </p:spPr>
        <p:txBody>
          <a:bodyPr wrap="none" lIns="0" tIns="0" rIns="0" bIns="0" rtlCol="0" anchor="t"/>
          <a:lstStyle/>
          <a:p>
            <a:pPr marL="0" indent="0" algn="l">
              <a:lnSpc>
                <a:spcPts val="2350"/>
              </a:lnSpc>
              <a:buNone/>
            </a:pPr>
            <a:r>
              <a:rPr lang="en-US" sz="2400" dirty="0">
                <a:solidFill>
                  <a:srgbClr val="E0D6DE"/>
                </a:solidFill>
                <a:latin typeface="Arial" panose="020B0604020202020204" pitchFamily="34" charset="0"/>
                <a:ea typeface="Sora Medium" pitchFamily="34" charset="-122"/>
                <a:cs typeface="Arial" panose="020B0604020202020204" pitchFamily="34" charset="0"/>
              </a:rPr>
              <a:t>Navigation and Mapping</a:t>
            </a:r>
            <a:endParaRPr lang="en-US" sz="2400" dirty="0">
              <a:latin typeface="Arial" panose="020B0604020202020204" pitchFamily="34" charset="0"/>
              <a:cs typeface="Arial" panose="020B0604020202020204" pitchFamily="34" charset="0"/>
            </a:endParaRPr>
          </a:p>
        </p:txBody>
      </p:sp>
      <p:sp>
        <p:nvSpPr>
          <p:cNvPr id="11" name="Text 6"/>
          <p:cNvSpPr/>
          <p:nvPr/>
        </p:nvSpPr>
        <p:spPr>
          <a:xfrm>
            <a:off x="1948815" y="5074087"/>
            <a:ext cx="11999476" cy="311825"/>
          </a:xfrm>
          <a:prstGeom prst="rect">
            <a:avLst/>
          </a:prstGeom>
          <a:noFill/>
          <a:ln/>
        </p:spPr>
        <p:txBody>
          <a:bodyPr wrap="none" lIns="0" tIns="0" rIns="0" bIns="0" rtlCol="0" anchor="t"/>
          <a:lstStyle/>
          <a:p>
            <a:pPr marL="0" indent="0" algn="l">
              <a:lnSpc>
                <a:spcPts val="2450"/>
              </a:lnSpc>
              <a:buNone/>
            </a:pPr>
            <a:r>
              <a:rPr lang="en-US" dirty="0">
                <a:solidFill>
                  <a:srgbClr val="E0D6DE"/>
                </a:solidFill>
                <a:latin typeface="Arial" panose="020B0604020202020204" pitchFamily="34" charset="0"/>
                <a:ea typeface="Noto Sans TC" pitchFamily="34" charset="-122"/>
                <a:cs typeface="Arial" panose="020B0604020202020204" pitchFamily="34" charset="0"/>
              </a:rPr>
              <a:t>Computer vision helps create and update detailed maps, recognizing changes in road conditions and infrastructure in real-time.</a:t>
            </a:r>
            <a:endParaRPr lang="en-US" dirty="0">
              <a:latin typeface="Arial" panose="020B0604020202020204" pitchFamily="34" charset="0"/>
              <a:cs typeface="Arial" panose="020B0604020202020204" pitchFamily="34" charset="0"/>
            </a:endParaRPr>
          </a:p>
        </p:txBody>
      </p:sp>
      <p:pic>
        <p:nvPicPr>
          <p:cNvPr id="12" name="Image 3" descr="preencoded.png"/>
          <p:cNvPicPr>
            <a:picLocks noChangeAspect="1"/>
          </p:cNvPicPr>
          <p:nvPr/>
        </p:nvPicPr>
        <p:blipFill>
          <a:blip r:embed="rId8"/>
          <a:stretch>
            <a:fillRect/>
          </a:stretch>
        </p:blipFill>
        <p:spPr>
          <a:xfrm>
            <a:off x="682109" y="5627251"/>
            <a:ext cx="974408" cy="1169313"/>
          </a:xfrm>
          <a:prstGeom prst="rect">
            <a:avLst/>
          </a:prstGeom>
        </p:spPr>
      </p:pic>
      <p:sp>
        <p:nvSpPr>
          <p:cNvPr id="13" name="Text 7"/>
          <p:cNvSpPr/>
          <p:nvPr/>
        </p:nvSpPr>
        <p:spPr>
          <a:xfrm>
            <a:off x="1948815" y="5822037"/>
            <a:ext cx="2468047" cy="304443"/>
          </a:xfrm>
          <a:prstGeom prst="rect">
            <a:avLst/>
          </a:prstGeom>
          <a:noFill/>
          <a:ln/>
        </p:spPr>
        <p:txBody>
          <a:bodyPr wrap="none" lIns="0" tIns="0" rIns="0" bIns="0" rtlCol="0" anchor="t"/>
          <a:lstStyle/>
          <a:p>
            <a:pPr marL="0" indent="0" algn="l">
              <a:lnSpc>
                <a:spcPts val="2350"/>
              </a:lnSpc>
              <a:buNone/>
            </a:pPr>
            <a:r>
              <a:rPr lang="en-US" sz="2400" dirty="0">
                <a:solidFill>
                  <a:srgbClr val="E0D6DE"/>
                </a:solidFill>
                <a:latin typeface="Arial" panose="020B0604020202020204" pitchFamily="34" charset="0"/>
                <a:ea typeface="Sora Medium" pitchFamily="34" charset="-122"/>
                <a:cs typeface="Arial" panose="020B0604020202020204" pitchFamily="34" charset="0"/>
              </a:rPr>
              <a:t>Traffic Management</a:t>
            </a:r>
            <a:endParaRPr lang="en-US" sz="2400" dirty="0">
              <a:latin typeface="Arial" panose="020B0604020202020204" pitchFamily="34" charset="0"/>
              <a:cs typeface="Arial" panose="020B0604020202020204" pitchFamily="34" charset="0"/>
            </a:endParaRPr>
          </a:p>
        </p:txBody>
      </p:sp>
      <p:sp>
        <p:nvSpPr>
          <p:cNvPr id="14" name="Text 8"/>
          <p:cNvSpPr/>
          <p:nvPr/>
        </p:nvSpPr>
        <p:spPr>
          <a:xfrm>
            <a:off x="1948815" y="6243399"/>
            <a:ext cx="11999476" cy="311825"/>
          </a:xfrm>
          <a:prstGeom prst="rect">
            <a:avLst/>
          </a:prstGeom>
          <a:noFill/>
          <a:ln/>
        </p:spPr>
        <p:txBody>
          <a:bodyPr wrap="none" lIns="0" tIns="0" rIns="0" bIns="0" rtlCol="0" anchor="t"/>
          <a:lstStyle/>
          <a:p>
            <a:pPr marL="0" indent="0" algn="l">
              <a:lnSpc>
                <a:spcPts val="2450"/>
              </a:lnSpc>
              <a:buNone/>
            </a:pPr>
            <a:r>
              <a:rPr lang="en-US" dirty="0">
                <a:solidFill>
                  <a:srgbClr val="E0D6DE"/>
                </a:solidFill>
                <a:latin typeface="Arial" panose="020B0604020202020204" pitchFamily="34" charset="0"/>
                <a:ea typeface="Noto Sans TC" pitchFamily="34" charset="-122"/>
                <a:cs typeface="Arial" panose="020B0604020202020204" pitchFamily="34" charset="0"/>
              </a:rPr>
              <a:t>Smart city infrastructure uses computer vision to optimize traffic flow, reduce congestion, and improve urban mobility.</a:t>
            </a:r>
            <a:endParaRPr lang="en-US" dirty="0">
              <a:latin typeface="Arial" panose="020B0604020202020204" pitchFamily="34" charset="0"/>
              <a:cs typeface="Arial" panose="020B0604020202020204" pitchFamily="34" charset="0"/>
            </a:endParaRPr>
          </a:p>
        </p:txBody>
      </p:sp>
      <p:sp>
        <p:nvSpPr>
          <p:cNvPr id="15" name="Text 9"/>
          <p:cNvSpPr/>
          <p:nvPr/>
        </p:nvSpPr>
        <p:spPr>
          <a:xfrm>
            <a:off x="682109" y="7015758"/>
            <a:ext cx="13266182" cy="623649"/>
          </a:xfrm>
          <a:prstGeom prst="rect">
            <a:avLst/>
          </a:prstGeom>
          <a:noFill/>
          <a:ln/>
        </p:spPr>
        <p:txBody>
          <a:bodyPr wrap="square" lIns="0" tIns="0" rIns="0" bIns="0" rtlCol="0" anchor="t"/>
          <a:lstStyle/>
          <a:p>
            <a:pPr marL="0" indent="0" algn="l">
              <a:lnSpc>
                <a:spcPts val="2450"/>
              </a:lnSpc>
              <a:buNone/>
            </a:pPr>
            <a:r>
              <a:rPr lang="en-US" dirty="0">
                <a:solidFill>
                  <a:srgbClr val="E0D6DE"/>
                </a:solidFill>
                <a:latin typeface="Arial" panose="020B0604020202020204" pitchFamily="34" charset="0"/>
                <a:ea typeface="Noto Sans TC" pitchFamily="34" charset="-122"/>
                <a:cs typeface="Arial" panose="020B0604020202020204" pitchFamily="34" charset="0"/>
              </a:rPr>
              <a:t>While autonomous vehicles represent one of the most visible applications of computer vision, the technology faces significant challenges in ensuring reliability across diverse weather conditions, unpredictable human behavior, and rare edge cases that could compromise safety.</a:t>
            </a:r>
            <a:endParaRPr lang="en-US" dirty="0">
              <a:latin typeface="Arial" panose="020B0604020202020204" pitchFamily="34" charset="0"/>
              <a:cs typeface="Arial" panose="020B0604020202020204" pitchFamily="34" charset="0"/>
            </a:endParaRPr>
          </a:p>
        </p:txBody>
      </p:sp>
      <p:pic>
        <p:nvPicPr>
          <p:cNvPr id="16" name="Audio Recording Apr 29, 2025 at 2:55:51 PM">
            <a:hlinkClick r:id="" action="ppaction://media"/>
            <a:extLst>
              <a:ext uri="{FF2B5EF4-FFF2-40B4-BE49-F238E27FC236}">
                <a16:creationId xmlns:a16="http://schemas.microsoft.com/office/drawing/2014/main" id="{65529CAD-E8E5-3A57-FA7A-91CAD1862B73}"/>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2975492" y="1122977"/>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098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13347" y="620673"/>
            <a:ext cx="12750760" cy="649486"/>
          </a:xfrm>
          <a:prstGeom prst="rect">
            <a:avLst/>
          </a:prstGeom>
          <a:noFill/>
          <a:ln/>
        </p:spPr>
        <p:txBody>
          <a:bodyPr wrap="none" lIns="0" tIns="0" rIns="0" bIns="0" rtlCol="0" anchor="t"/>
          <a:lstStyle/>
          <a:p>
            <a:pPr marL="0" indent="0" algn="l">
              <a:lnSpc>
                <a:spcPts val="5100"/>
              </a:lnSpc>
              <a:buNone/>
            </a:pPr>
            <a:r>
              <a:rPr lang="en-US" sz="4000" b="1" dirty="0">
                <a:solidFill>
                  <a:srgbClr val="97B8FF"/>
                </a:solidFill>
                <a:latin typeface="Arial Black" panose="020B0604020202020204" pitchFamily="34" charset="0"/>
                <a:ea typeface="Sora Medium" pitchFamily="34" charset="-122"/>
                <a:cs typeface="Arial Black" panose="020B0604020202020204" pitchFamily="34" charset="0"/>
              </a:rPr>
              <a:t>Security, Retail, and Manufacturing Applications</a:t>
            </a:r>
            <a:endParaRPr lang="en-US" sz="4000" b="1" dirty="0">
              <a:latin typeface="Arial Black" panose="020B0604020202020204" pitchFamily="34" charset="0"/>
              <a:cs typeface="Arial Black" panose="020B0604020202020204" pitchFamily="34" charset="0"/>
            </a:endParaRPr>
          </a:p>
        </p:txBody>
      </p:sp>
      <p:sp>
        <p:nvSpPr>
          <p:cNvPr id="3" name="Text 1"/>
          <p:cNvSpPr/>
          <p:nvPr/>
        </p:nvSpPr>
        <p:spPr>
          <a:xfrm>
            <a:off x="1663660" y="1994297"/>
            <a:ext cx="3034070" cy="324683"/>
          </a:xfrm>
          <a:prstGeom prst="rect">
            <a:avLst/>
          </a:prstGeom>
          <a:noFill/>
          <a:ln/>
        </p:spPr>
        <p:txBody>
          <a:bodyPr wrap="none" lIns="0" tIns="0" rIns="0" bIns="0" rtlCol="0" anchor="t"/>
          <a:lstStyle/>
          <a:p>
            <a:pPr marL="0" indent="0" algn="r">
              <a:lnSpc>
                <a:spcPts val="2550"/>
              </a:lnSpc>
              <a:buNone/>
            </a:pPr>
            <a:r>
              <a:rPr lang="en-US" sz="2800" dirty="0">
                <a:solidFill>
                  <a:srgbClr val="E0D6DE"/>
                </a:solidFill>
                <a:latin typeface="Arial" panose="020B0604020202020204" pitchFamily="34" charset="0"/>
                <a:ea typeface="Sora Medium" pitchFamily="34" charset="-122"/>
                <a:cs typeface="Arial" panose="020B0604020202020204" pitchFamily="34" charset="0"/>
              </a:rPr>
              <a:t>Security &amp; Surveillance</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513347" y="2443639"/>
            <a:ext cx="4184383" cy="1662708"/>
          </a:xfrm>
          <a:prstGeom prst="rect">
            <a:avLst/>
          </a:prstGeom>
          <a:noFill/>
          <a:ln/>
        </p:spPr>
        <p:txBody>
          <a:bodyPr wrap="square" lIns="0" tIns="0" rIns="0" bIns="0" rtlCol="0" anchor="t"/>
          <a:lstStyle/>
          <a:p>
            <a:pPr marL="0" indent="0" algn="r">
              <a:lnSpc>
                <a:spcPts val="2600"/>
              </a:lnSpc>
              <a:buNone/>
            </a:pPr>
            <a:r>
              <a:rPr lang="en-US" sz="2000" dirty="0">
                <a:solidFill>
                  <a:srgbClr val="E0D6DE"/>
                </a:solidFill>
                <a:latin typeface="Arial" panose="020B0604020202020204" pitchFamily="34" charset="0"/>
                <a:ea typeface="Noto Sans TC" pitchFamily="34" charset="-122"/>
                <a:cs typeface="Arial" panose="020B0604020202020204" pitchFamily="34" charset="0"/>
              </a:rPr>
              <a:t>Facial recognition technology is used in airports and border security, while AI video analytics can detect suspicious behavior, count people, and monitor social distancing.</a:t>
            </a:r>
            <a:endParaRPr lang="en-US" sz="2000" dirty="0">
              <a:latin typeface="Arial" panose="020B0604020202020204" pitchFamily="34" charset="0"/>
              <a:cs typeface="Arial" panose="020B0604020202020204" pitchFamily="34" charset="0"/>
            </a:endParaRPr>
          </a:p>
        </p:txBody>
      </p:sp>
      <p:pic>
        <p:nvPicPr>
          <p:cNvPr id="5" name="Image 0" descr="preencoded.png"/>
          <p:cNvPicPr>
            <a:picLocks noChangeAspect="1"/>
          </p:cNvPicPr>
          <p:nvPr/>
        </p:nvPicPr>
        <p:blipFill>
          <a:blip r:embed="rId5"/>
          <a:stretch>
            <a:fillRect/>
          </a:stretch>
        </p:blipFill>
        <p:spPr>
          <a:xfrm>
            <a:off x="5009436" y="1892260"/>
            <a:ext cx="4611410" cy="4611410"/>
          </a:xfrm>
          <a:prstGeom prst="rect">
            <a:avLst/>
          </a:prstGeom>
        </p:spPr>
      </p:pic>
      <p:pic>
        <p:nvPicPr>
          <p:cNvPr id="6" name="Image 1" descr="preencoded.png"/>
          <p:cNvPicPr>
            <a:picLocks noChangeAspect="1"/>
          </p:cNvPicPr>
          <p:nvPr/>
        </p:nvPicPr>
        <p:blipFill>
          <a:blip r:embed="rId6"/>
          <a:stretch>
            <a:fillRect/>
          </a:stretch>
        </p:blipFill>
        <p:spPr>
          <a:xfrm>
            <a:off x="6018371" y="2862263"/>
            <a:ext cx="310991" cy="388739"/>
          </a:xfrm>
          <a:prstGeom prst="rect">
            <a:avLst/>
          </a:prstGeom>
        </p:spPr>
      </p:pic>
      <p:sp>
        <p:nvSpPr>
          <p:cNvPr id="7" name="Text 3"/>
          <p:cNvSpPr/>
          <p:nvPr/>
        </p:nvSpPr>
        <p:spPr>
          <a:xfrm>
            <a:off x="9932551" y="1994297"/>
            <a:ext cx="2598063" cy="324683"/>
          </a:xfrm>
          <a:prstGeom prst="rect">
            <a:avLst/>
          </a:prstGeom>
          <a:noFill/>
          <a:ln/>
        </p:spPr>
        <p:txBody>
          <a:bodyPr wrap="none" lIns="0" tIns="0" rIns="0" bIns="0" rtlCol="0" anchor="t"/>
          <a:lstStyle/>
          <a:p>
            <a:pPr marL="0" indent="0" algn="l">
              <a:lnSpc>
                <a:spcPts val="2550"/>
              </a:lnSpc>
              <a:buNone/>
            </a:pPr>
            <a:r>
              <a:rPr lang="en-US" sz="2800" dirty="0">
                <a:solidFill>
                  <a:srgbClr val="E0D6DE"/>
                </a:solidFill>
                <a:latin typeface="Arial" panose="020B0604020202020204" pitchFamily="34" charset="0"/>
                <a:ea typeface="Sora Medium" pitchFamily="34" charset="-122"/>
                <a:cs typeface="Arial" panose="020B0604020202020204" pitchFamily="34" charset="0"/>
              </a:rPr>
              <a:t>Retail Innovation</a:t>
            </a:r>
            <a:endParaRPr lang="en-US" sz="2800" dirty="0">
              <a:latin typeface="Arial" panose="020B0604020202020204" pitchFamily="34" charset="0"/>
              <a:cs typeface="Arial" panose="020B0604020202020204" pitchFamily="34" charset="0"/>
            </a:endParaRPr>
          </a:p>
        </p:txBody>
      </p:sp>
      <p:sp>
        <p:nvSpPr>
          <p:cNvPr id="8" name="Text 4"/>
          <p:cNvSpPr/>
          <p:nvPr/>
        </p:nvSpPr>
        <p:spPr>
          <a:xfrm>
            <a:off x="9932551" y="2443639"/>
            <a:ext cx="4312838" cy="1662708"/>
          </a:xfrm>
          <a:prstGeom prst="rect">
            <a:avLst/>
          </a:prstGeom>
          <a:noFill/>
          <a:ln/>
        </p:spPr>
        <p:txBody>
          <a:bodyPr wrap="square" lIns="0" tIns="0" rIns="0" bIns="0" rtlCol="0" anchor="t"/>
          <a:lstStyle/>
          <a:p>
            <a:pPr marL="0" indent="0" algn="l">
              <a:lnSpc>
                <a:spcPts val="2600"/>
              </a:lnSpc>
              <a:buNone/>
            </a:pPr>
            <a:r>
              <a:rPr lang="en-US" sz="2000" dirty="0">
                <a:solidFill>
                  <a:srgbClr val="E0D6DE"/>
                </a:solidFill>
                <a:latin typeface="Arial" panose="020B0604020202020204" pitchFamily="34" charset="0"/>
                <a:ea typeface="Noto Sans TC" pitchFamily="34" charset="-122"/>
                <a:cs typeface="Arial" panose="020B0604020202020204" pitchFamily="34" charset="0"/>
              </a:rPr>
              <a:t>Computer vision powers inventory management, cashier-less stores like Amazon Go, customer tracking, and personalized marketing based on visual data.</a:t>
            </a:r>
            <a:endParaRPr lang="en-US" sz="2000" dirty="0">
              <a:latin typeface="Arial" panose="020B0604020202020204" pitchFamily="34" charset="0"/>
              <a:cs typeface="Arial" panose="020B0604020202020204" pitchFamily="34" charset="0"/>
            </a:endParaRPr>
          </a:p>
        </p:txBody>
      </p:sp>
      <p:pic>
        <p:nvPicPr>
          <p:cNvPr id="9" name="Image 2" descr="preencoded.png"/>
          <p:cNvPicPr>
            <a:picLocks noChangeAspect="1"/>
          </p:cNvPicPr>
          <p:nvPr/>
        </p:nvPicPr>
        <p:blipFill>
          <a:blip r:embed="rId7"/>
          <a:stretch>
            <a:fillRect/>
          </a:stretch>
        </p:blipFill>
        <p:spPr>
          <a:xfrm>
            <a:off x="5009436" y="1892260"/>
            <a:ext cx="4611410" cy="4611410"/>
          </a:xfrm>
          <a:prstGeom prst="rect">
            <a:avLst/>
          </a:prstGeom>
        </p:spPr>
      </p:pic>
      <p:pic>
        <p:nvPicPr>
          <p:cNvPr id="10" name="Image 3" descr="preencoded.png"/>
          <p:cNvPicPr>
            <a:picLocks noChangeAspect="1"/>
          </p:cNvPicPr>
          <p:nvPr/>
        </p:nvPicPr>
        <p:blipFill>
          <a:blip r:embed="rId8"/>
          <a:stretch>
            <a:fillRect/>
          </a:stretch>
        </p:blipFill>
        <p:spPr>
          <a:xfrm>
            <a:off x="8300799" y="2862263"/>
            <a:ext cx="310991" cy="388739"/>
          </a:xfrm>
          <a:prstGeom prst="rect">
            <a:avLst/>
          </a:prstGeom>
        </p:spPr>
      </p:pic>
      <p:sp>
        <p:nvSpPr>
          <p:cNvPr id="11" name="Text 5"/>
          <p:cNvSpPr/>
          <p:nvPr/>
        </p:nvSpPr>
        <p:spPr>
          <a:xfrm>
            <a:off x="9932551" y="4622125"/>
            <a:ext cx="2598063" cy="324683"/>
          </a:xfrm>
          <a:prstGeom prst="rect">
            <a:avLst/>
          </a:prstGeom>
          <a:noFill/>
          <a:ln/>
        </p:spPr>
        <p:txBody>
          <a:bodyPr wrap="none" lIns="0" tIns="0" rIns="0" bIns="0" rtlCol="0" anchor="t"/>
          <a:lstStyle/>
          <a:p>
            <a:pPr marL="0" indent="0" algn="l">
              <a:lnSpc>
                <a:spcPts val="2550"/>
              </a:lnSpc>
              <a:buNone/>
            </a:pPr>
            <a:r>
              <a:rPr lang="en-US" sz="2800" dirty="0">
                <a:solidFill>
                  <a:srgbClr val="E0D6DE"/>
                </a:solidFill>
                <a:latin typeface="Arial" panose="020B0604020202020204" pitchFamily="34" charset="0"/>
                <a:ea typeface="Sora Medium" pitchFamily="34" charset="-122"/>
                <a:cs typeface="Arial" panose="020B0604020202020204" pitchFamily="34" charset="0"/>
              </a:rPr>
              <a:t>Manufacturing</a:t>
            </a:r>
            <a:endParaRPr lang="en-US" sz="2800" dirty="0">
              <a:latin typeface="Arial" panose="020B0604020202020204" pitchFamily="34" charset="0"/>
              <a:cs typeface="Arial" panose="020B0604020202020204" pitchFamily="34" charset="0"/>
            </a:endParaRPr>
          </a:p>
        </p:txBody>
      </p:sp>
      <p:sp>
        <p:nvSpPr>
          <p:cNvPr id="12" name="Text 6"/>
          <p:cNvSpPr/>
          <p:nvPr/>
        </p:nvSpPr>
        <p:spPr>
          <a:xfrm>
            <a:off x="9932550" y="5071467"/>
            <a:ext cx="4152417" cy="1330166"/>
          </a:xfrm>
          <a:prstGeom prst="rect">
            <a:avLst/>
          </a:prstGeom>
          <a:noFill/>
          <a:ln/>
        </p:spPr>
        <p:txBody>
          <a:bodyPr wrap="square" lIns="0" tIns="0" rIns="0" bIns="0" rtlCol="0" anchor="t"/>
          <a:lstStyle/>
          <a:p>
            <a:pPr marL="0" indent="0" algn="l">
              <a:lnSpc>
                <a:spcPts val="2600"/>
              </a:lnSpc>
              <a:buNone/>
            </a:pPr>
            <a:r>
              <a:rPr lang="en-US" sz="2000" dirty="0">
                <a:solidFill>
                  <a:srgbClr val="E0D6DE"/>
                </a:solidFill>
                <a:latin typeface="Arial" panose="020B0604020202020204" pitchFamily="34" charset="0"/>
                <a:ea typeface="Noto Sans TC" pitchFamily="34" charset="-122"/>
                <a:cs typeface="Arial" panose="020B0604020202020204" pitchFamily="34" charset="0"/>
              </a:rPr>
              <a:t>AI vision systems perform quality control inspections faster and more consistently than humans, reducing waste and improving production efficiency.</a:t>
            </a:r>
            <a:endParaRPr lang="en-US" sz="2000" dirty="0">
              <a:latin typeface="Arial" panose="020B0604020202020204" pitchFamily="34" charset="0"/>
              <a:cs typeface="Arial" panose="020B0604020202020204" pitchFamily="34" charset="0"/>
            </a:endParaRPr>
          </a:p>
        </p:txBody>
      </p:sp>
      <p:pic>
        <p:nvPicPr>
          <p:cNvPr id="13" name="Image 4" descr="preencoded.png"/>
          <p:cNvPicPr>
            <a:picLocks noChangeAspect="1"/>
          </p:cNvPicPr>
          <p:nvPr/>
        </p:nvPicPr>
        <p:blipFill>
          <a:blip r:embed="rId9"/>
          <a:stretch>
            <a:fillRect/>
          </a:stretch>
        </p:blipFill>
        <p:spPr>
          <a:xfrm>
            <a:off x="5009436" y="1892260"/>
            <a:ext cx="4611410" cy="4611410"/>
          </a:xfrm>
          <a:prstGeom prst="rect">
            <a:avLst/>
          </a:prstGeom>
        </p:spPr>
      </p:pic>
      <p:pic>
        <p:nvPicPr>
          <p:cNvPr id="14" name="Image 5" descr="preencoded.png"/>
          <p:cNvPicPr>
            <a:picLocks noChangeAspect="1"/>
          </p:cNvPicPr>
          <p:nvPr/>
        </p:nvPicPr>
        <p:blipFill>
          <a:blip r:embed="rId10"/>
          <a:stretch>
            <a:fillRect/>
          </a:stretch>
        </p:blipFill>
        <p:spPr>
          <a:xfrm>
            <a:off x="8300799" y="5144691"/>
            <a:ext cx="310991" cy="388739"/>
          </a:xfrm>
          <a:prstGeom prst="rect">
            <a:avLst/>
          </a:prstGeom>
        </p:spPr>
      </p:pic>
      <p:sp>
        <p:nvSpPr>
          <p:cNvPr id="15" name="Text 7"/>
          <p:cNvSpPr/>
          <p:nvPr/>
        </p:nvSpPr>
        <p:spPr>
          <a:xfrm>
            <a:off x="2099667" y="4686293"/>
            <a:ext cx="2598063" cy="324683"/>
          </a:xfrm>
          <a:prstGeom prst="rect">
            <a:avLst/>
          </a:prstGeom>
          <a:noFill/>
          <a:ln/>
        </p:spPr>
        <p:txBody>
          <a:bodyPr wrap="none" lIns="0" tIns="0" rIns="0" bIns="0" rtlCol="0" anchor="t"/>
          <a:lstStyle/>
          <a:p>
            <a:pPr marL="0" indent="0" algn="r">
              <a:lnSpc>
                <a:spcPts val="2550"/>
              </a:lnSpc>
              <a:buNone/>
            </a:pPr>
            <a:r>
              <a:rPr lang="en-US" sz="2800" dirty="0">
                <a:solidFill>
                  <a:srgbClr val="E0D6DE"/>
                </a:solidFill>
                <a:latin typeface="Arial" panose="020B0604020202020204" pitchFamily="34" charset="0"/>
                <a:ea typeface="Sora Medium" pitchFamily="34" charset="-122"/>
                <a:cs typeface="Arial" panose="020B0604020202020204" pitchFamily="34" charset="0"/>
              </a:rPr>
              <a:t>Aerial Applications</a:t>
            </a:r>
            <a:endParaRPr lang="en-US" sz="2800" dirty="0">
              <a:latin typeface="Arial" panose="020B0604020202020204" pitchFamily="34" charset="0"/>
              <a:cs typeface="Arial" panose="020B0604020202020204" pitchFamily="34" charset="0"/>
            </a:endParaRPr>
          </a:p>
        </p:txBody>
      </p:sp>
      <p:sp>
        <p:nvSpPr>
          <p:cNvPr id="16" name="Text 8"/>
          <p:cNvSpPr/>
          <p:nvPr/>
        </p:nvSpPr>
        <p:spPr>
          <a:xfrm>
            <a:off x="727353" y="5135635"/>
            <a:ext cx="3970377" cy="1330166"/>
          </a:xfrm>
          <a:prstGeom prst="rect">
            <a:avLst/>
          </a:prstGeom>
          <a:noFill/>
          <a:ln/>
        </p:spPr>
        <p:txBody>
          <a:bodyPr wrap="square" lIns="0" tIns="0" rIns="0" bIns="0" rtlCol="0" anchor="t"/>
          <a:lstStyle/>
          <a:p>
            <a:pPr marL="0" indent="0" algn="r">
              <a:lnSpc>
                <a:spcPts val="2600"/>
              </a:lnSpc>
              <a:buNone/>
            </a:pPr>
            <a:r>
              <a:rPr lang="en-US" sz="2000" dirty="0">
                <a:solidFill>
                  <a:srgbClr val="E0D6DE"/>
                </a:solidFill>
                <a:latin typeface="Arial" panose="020B0604020202020204" pitchFamily="34" charset="0"/>
                <a:ea typeface="Noto Sans TC" pitchFamily="34" charset="-122"/>
                <a:cs typeface="Arial" panose="020B0604020202020204" pitchFamily="34" charset="0"/>
              </a:rPr>
              <a:t>Drones equipped with computer vision inspect infrastructure, monitor crop health in agriculture, and assist in disaster response efforts.</a:t>
            </a:r>
            <a:endParaRPr lang="en-US" sz="2000" dirty="0">
              <a:latin typeface="Arial" panose="020B0604020202020204" pitchFamily="34" charset="0"/>
              <a:cs typeface="Arial" panose="020B0604020202020204" pitchFamily="34" charset="0"/>
            </a:endParaRPr>
          </a:p>
        </p:txBody>
      </p:sp>
      <p:pic>
        <p:nvPicPr>
          <p:cNvPr id="17" name="Image 6" descr="preencoded.png"/>
          <p:cNvPicPr>
            <a:picLocks noChangeAspect="1"/>
          </p:cNvPicPr>
          <p:nvPr/>
        </p:nvPicPr>
        <p:blipFill>
          <a:blip r:embed="rId11"/>
          <a:stretch>
            <a:fillRect/>
          </a:stretch>
        </p:blipFill>
        <p:spPr>
          <a:xfrm>
            <a:off x="5009436" y="1892260"/>
            <a:ext cx="4611410" cy="4611410"/>
          </a:xfrm>
          <a:prstGeom prst="rect">
            <a:avLst/>
          </a:prstGeom>
        </p:spPr>
      </p:pic>
      <p:pic>
        <p:nvPicPr>
          <p:cNvPr id="18" name="Image 7" descr="preencoded.png"/>
          <p:cNvPicPr>
            <a:picLocks noChangeAspect="1"/>
          </p:cNvPicPr>
          <p:nvPr/>
        </p:nvPicPr>
        <p:blipFill>
          <a:blip r:embed="rId12"/>
          <a:stretch>
            <a:fillRect/>
          </a:stretch>
        </p:blipFill>
        <p:spPr>
          <a:xfrm>
            <a:off x="6018371" y="5144691"/>
            <a:ext cx="310991" cy="388739"/>
          </a:xfrm>
          <a:prstGeom prst="rect">
            <a:avLst/>
          </a:prstGeom>
        </p:spPr>
      </p:pic>
      <p:sp>
        <p:nvSpPr>
          <p:cNvPr id="19" name="Text 9"/>
          <p:cNvSpPr/>
          <p:nvPr/>
        </p:nvSpPr>
        <p:spPr>
          <a:xfrm>
            <a:off x="727353" y="7034211"/>
            <a:ext cx="13175694" cy="665083"/>
          </a:xfrm>
          <a:prstGeom prst="rect">
            <a:avLst/>
          </a:prstGeom>
          <a:noFill/>
          <a:ln/>
        </p:spPr>
        <p:txBody>
          <a:bodyPr wrap="square" lIns="0" tIns="0" rIns="0" bIns="0" rtlCol="0" anchor="t"/>
          <a:lstStyle/>
          <a:p>
            <a:pPr marL="0" indent="0" algn="l">
              <a:lnSpc>
                <a:spcPts val="2600"/>
              </a:lnSpc>
              <a:buNone/>
            </a:pPr>
            <a:r>
              <a:rPr lang="en-US" sz="2000" dirty="0">
                <a:solidFill>
                  <a:srgbClr val="E0D6DE"/>
                </a:solidFill>
                <a:latin typeface="Arial" panose="020B0604020202020204" pitchFamily="34" charset="0"/>
                <a:ea typeface="Noto Sans TC" pitchFamily="34" charset="-122"/>
                <a:cs typeface="Arial" panose="020B0604020202020204" pitchFamily="34" charset="0"/>
              </a:rPr>
              <a:t>While these applications demonstrate computer vision's versatility, they also raise important concerns about data privacy, potential bias in facial recognition systems, and the accessibility of this technology for smaller businesses with limited resources.</a:t>
            </a:r>
            <a:endParaRPr lang="en-US" sz="2000" dirty="0">
              <a:latin typeface="Arial" panose="020B0604020202020204" pitchFamily="34" charset="0"/>
              <a:cs typeface="Arial" panose="020B0604020202020204" pitchFamily="34" charset="0"/>
            </a:endParaRPr>
          </a:p>
        </p:txBody>
      </p:sp>
      <p:pic>
        <p:nvPicPr>
          <p:cNvPr id="20" name="Audio Recording Apr 29, 2025 at 2:58:56 PM">
            <a:hlinkClick r:id="" action="ppaction://media"/>
            <a:extLst>
              <a:ext uri="{FF2B5EF4-FFF2-40B4-BE49-F238E27FC236}">
                <a16:creationId xmlns:a16="http://schemas.microsoft.com/office/drawing/2014/main" id="{6B7D9352-0081-B6F8-DF17-174DC245DA9F}"/>
              </a:ext>
            </a:extLst>
          </p:cNvPr>
          <p:cNvPicPr>
            <a:picLocks noChangeAspect="1"/>
          </p:cNvPicPr>
          <p:nvPr>
            <a:audioFile r:link="rId2"/>
            <p:extLst>
              <p:ext uri="{DAA4B4D4-6D71-4841-9C94-3DE7FCFB9230}">
                <p14:media xmlns:p14="http://schemas.microsoft.com/office/powerpoint/2010/main" r:embed="rId1"/>
              </p:ext>
            </p:extLst>
          </p:nvPr>
        </p:nvPicPr>
        <p:blipFill>
          <a:blip r:embed="rId13"/>
          <a:stretch>
            <a:fillRect/>
          </a:stretch>
        </p:blipFill>
        <p:spPr>
          <a:xfrm>
            <a:off x="6908800" y="3708400"/>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4876"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0"/>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21149" y="489704"/>
            <a:ext cx="6997779" cy="554593"/>
          </a:xfrm>
          <a:prstGeom prst="rect">
            <a:avLst/>
          </a:prstGeom>
          <a:noFill/>
          <a:ln/>
        </p:spPr>
        <p:txBody>
          <a:bodyPr wrap="none" lIns="0" tIns="0" rIns="0" bIns="0" rtlCol="0" anchor="t"/>
          <a:lstStyle/>
          <a:p>
            <a:pPr marL="0" indent="0" algn="l">
              <a:lnSpc>
                <a:spcPts val="4350"/>
              </a:lnSpc>
              <a:buNone/>
            </a:pPr>
            <a:r>
              <a:rPr lang="en-US" sz="4000" b="1" dirty="0">
                <a:solidFill>
                  <a:srgbClr val="97B8FF"/>
                </a:solidFill>
                <a:latin typeface="Arial Black" panose="020B0604020202020204" pitchFamily="34" charset="0"/>
                <a:ea typeface="Sora Medium" pitchFamily="34" charset="-122"/>
                <a:cs typeface="Arial Black" panose="020B0604020202020204" pitchFamily="34" charset="0"/>
              </a:rPr>
              <a:t>Challenges in Computer Vision</a:t>
            </a:r>
            <a:endParaRPr lang="en-US" sz="4000" b="1" dirty="0">
              <a:latin typeface="Arial Black" panose="020B0604020202020204" pitchFamily="34" charset="0"/>
              <a:cs typeface="Arial Black" panose="020B0604020202020204" pitchFamily="34" charset="0"/>
            </a:endParaRPr>
          </a:p>
        </p:txBody>
      </p:sp>
      <p:pic>
        <p:nvPicPr>
          <p:cNvPr id="3" name="Image 0" descr="preencoded.png"/>
          <p:cNvPicPr>
            <a:picLocks noChangeAspect="1"/>
          </p:cNvPicPr>
          <p:nvPr/>
        </p:nvPicPr>
        <p:blipFill>
          <a:blip r:embed="rId5"/>
          <a:stretch>
            <a:fillRect/>
          </a:stretch>
        </p:blipFill>
        <p:spPr>
          <a:xfrm>
            <a:off x="3305413" y="1399222"/>
            <a:ext cx="1325404" cy="1022390"/>
          </a:xfrm>
          <a:prstGeom prst="rect">
            <a:avLst/>
          </a:prstGeom>
        </p:spPr>
      </p:pic>
      <p:pic>
        <p:nvPicPr>
          <p:cNvPr id="4" name="Image 1" descr="preencoded.png"/>
          <p:cNvPicPr>
            <a:picLocks noChangeAspect="1"/>
          </p:cNvPicPr>
          <p:nvPr/>
        </p:nvPicPr>
        <p:blipFill>
          <a:blip r:embed="rId6"/>
          <a:stretch>
            <a:fillRect/>
          </a:stretch>
        </p:blipFill>
        <p:spPr>
          <a:xfrm>
            <a:off x="3843338" y="1881068"/>
            <a:ext cx="249555" cy="311944"/>
          </a:xfrm>
          <a:prstGeom prst="rect">
            <a:avLst/>
          </a:prstGeom>
        </p:spPr>
      </p:pic>
      <p:sp>
        <p:nvSpPr>
          <p:cNvPr id="5" name="Text 1"/>
          <p:cNvSpPr/>
          <p:nvPr/>
        </p:nvSpPr>
        <p:spPr>
          <a:xfrm>
            <a:off x="4808220" y="1576626"/>
            <a:ext cx="2218492" cy="277178"/>
          </a:xfrm>
          <a:prstGeom prst="rect">
            <a:avLst/>
          </a:prstGeom>
          <a:noFill/>
          <a:ln/>
        </p:spPr>
        <p:txBody>
          <a:bodyPr wrap="none" lIns="0" tIns="0" rIns="0" bIns="0" rtlCol="0" anchor="t"/>
          <a:lstStyle/>
          <a:p>
            <a:pPr marL="0" indent="0" algn="l">
              <a:lnSpc>
                <a:spcPts val="2150"/>
              </a:lnSpc>
              <a:buNone/>
            </a:pPr>
            <a:r>
              <a:rPr lang="en-US" sz="2000" dirty="0">
                <a:solidFill>
                  <a:srgbClr val="E0D6DE"/>
                </a:solidFill>
                <a:latin typeface="Arial" panose="020B0604020202020204" pitchFamily="34" charset="0"/>
                <a:ea typeface="Sora Medium" pitchFamily="34" charset="-122"/>
                <a:cs typeface="Arial" panose="020B0604020202020204" pitchFamily="34" charset="0"/>
              </a:rPr>
              <a:t>Data Dependency</a:t>
            </a:r>
            <a:endParaRPr lang="en-US" sz="2000" dirty="0">
              <a:latin typeface="Arial" panose="020B0604020202020204" pitchFamily="34" charset="0"/>
              <a:cs typeface="Arial" panose="020B0604020202020204" pitchFamily="34" charset="0"/>
            </a:endParaRPr>
          </a:p>
        </p:txBody>
      </p:sp>
      <p:sp>
        <p:nvSpPr>
          <p:cNvPr id="6" name="Text 2"/>
          <p:cNvSpPr/>
          <p:nvPr/>
        </p:nvSpPr>
        <p:spPr>
          <a:xfrm>
            <a:off x="4808220" y="1960245"/>
            <a:ext cx="3328154" cy="283964"/>
          </a:xfrm>
          <a:prstGeom prst="rect">
            <a:avLst/>
          </a:prstGeom>
          <a:noFill/>
          <a:ln/>
        </p:spPr>
        <p:txBody>
          <a:bodyPr wrap="none" lIns="0" tIns="0" rIns="0" bIns="0" rtlCol="0" anchor="t"/>
          <a:lstStyle/>
          <a:p>
            <a:pPr marL="0" indent="0" algn="l">
              <a:lnSpc>
                <a:spcPts val="2200"/>
              </a:lnSpc>
              <a:buNone/>
            </a:pPr>
            <a:r>
              <a:rPr lang="en-US" sz="1600" dirty="0">
                <a:solidFill>
                  <a:srgbClr val="E0D6DE"/>
                </a:solidFill>
                <a:latin typeface="Arial" panose="020B0604020202020204" pitchFamily="34" charset="0"/>
                <a:ea typeface="Noto Sans TC" pitchFamily="34" charset="-122"/>
                <a:cs typeface="Arial" panose="020B0604020202020204" pitchFamily="34" charset="0"/>
              </a:rPr>
              <a:t>Models require massive labeled datasets</a:t>
            </a:r>
            <a:endParaRPr lang="en-US" sz="1600" dirty="0">
              <a:latin typeface="Arial" panose="020B0604020202020204" pitchFamily="34" charset="0"/>
              <a:cs typeface="Arial" panose="020B0604020202020204" pitchFamily="34" charset="0"/>
            </a:endParaRPr>
          </a:p>
        </p:txBody>
      </p:sp>
      <p:sp>
        <p:nvSpPr>
          <p:cNvPr id="7" name="Shape 3"/>
          <p:cNvSpPr/>
          <p:nvPr/>
        </p:nvSpPr>
        <p:spPr>
          <a:xfrm>
            <a:off x="4675108" y="2434233"/>
            <a:ext cx="9289852" cy="11430"/>
          </a:xfrm>
          <a:prstGeom prst="roundRect">
            <a:avLst>
              <a:gd name="adj" fmla="val 232922"/>
            </a:avLst>
          </a:prstGeom>
          <a:solidFill>
            <a:srgbClr val="3F3F44"/>
          </a:solidFill>
          <a:ln/>
        </p:spPr>
        <p:txBody>
          <a:bodyPr/>
          <a:lstStyle/>
          <a:p>
            <a:endParaRPr lang="en-US" sz="2400">
              <a:latin typeface="Arial" panose="020B0604020202020204" pitchFamily="34" charset="0"/>
              <a:cs typeface="Arial" panose="020B0604020202020204" pitchFamily="34" charset="0"/>
            </a:endParaRPr>
          </a:p>
        </p:txBody>
      </p:sp>
      <p:pic>
        <p:nvPicPr>
          <p:cNvPr id="8" name="Image 2" descr="preencoded.png"/>
          <p:cNvPicPr>
            <a:picLocks noChangeAspect="1"/>
          </p:cNvPicPr>
          <p:nvPr/>
        </p:nvPicPr>
        <p:blipFill>
          <a:blip r:embed="rId7"/>
          <a:stretch>
            <a:fillRect/>
          </a:stretch>
        </p:blipFill>
        <p:spPr>
          <a:xfrm>
            <a:off x="2642711" y="2465903"/>
            <a:ext cx="2650808" cy="1022390"/>
          </a:xfrm>
          <a:prstGeom prst="rect">
            <a:avLst/>
          </a:prstGeom>
        </p:spPr>
      </p:pic>
      <p:pic>
        <p:nvPicPr>
          <p:cNvPr id="9" name="Image 3" descr="preencoded.png"/>
          <p:cNvPicPr>
            <a:picLocks noChangeAspect="1"/>
          </p:cNvPicPr>
          <p:nvPr/>
        </p:nvPicPr>
        <p:blipFill>
          <a:blip r:embed="rId8"/>
          <a:stretch>
            <a:fillRect/>
          </a:stretch>
        </p:blipFill>
        <p:spPr>
          <a:xfrm>
            <a:off x="3843338" y="2821067"/>
            <a:ext cx="249555" cy="311944"/>
          </a:xfrm>
          <a:prstGeom prst="rect">
            <a:avLst/>
          </a:prstGeom>
        </p:spPr>
      </p:pic>
      <p:sp>
        <p:nvSpPr>
          <p:cNvPr id="10" name="Text 4"/>
          <p:cNvSpPr/>
          <p:nvPr/>
        </p:nvSpPr>
        <p:spPr>
          <a:xfrm>
            <a:off x="5470922" y="2643307"/>
            <a:ext cx="2218492" cy="277178"/>
          </a:xfrm>
          <a:prstGeom prst="rect">
            <a:avLst/>
          </a:prstGeom>
          <a:noFill/>
          <a:ln/>
        </p:spPr>
        <p:txBody>
          <a:bodyPr wrap="none" lIns="0" tIns="0" rIns="0" bIns="0" rtlCol="0" anchor="t"/>
          <a:lstStyle/>
          <a:p>
            <a:pPr marL="0" indent="0" algn="l">
              <a:lnSpc>
                <a:spcPts val="2150"/>
              </a:lnSpc>
              <a:buNone/>
            </a:pPr>
            <a:r>
              <a:rPr lang="en-US" sz="2000" dirty="0">
                <a:solidFill>
                  <a:srgbClr val="E0D6DE"/>
                </a:solidFill>
                <a:latin typeface="Arial" panose="020B0604020202020204" pitchFamily="34" charset="0"/>
                <a:ea typeface="Sora Medium" pitchFamily="34" charset="-122"/>
                <a:cs typeface="Arial" panose="020B0604020202020204" pitchFamily="34" charset="0"/>
              </a:rPr>
              <a:t>Robustness Issues</a:t>
            </a:r>
            <a:endParaRPr lang="en-US" sz="2000" dirty="0">
              <a:latin typeface="Arial" panose="020B0604020202020204" pitchFamily="34" charset="0"/>
              <a:cs typeface="Arial" panose="020B0604020202020204" pitchFamily="34" charset="0"/>
            </a:endParaRPr>
          </a:p>
        </p:txBody>
      </p:sp>
      <p:sp>
        <p:nvSpPr>
          <p:cNvPr id="11" name="Text 5"/>
          <p:cNvSpPr/>
          <p:nvPr/>
        </p:nvSpPr>
        <p:spPr>
          <a:xfrm>
            <a:off x="5470922" y="3026926"/>
            <a:ext cx="2682597" cy="283964"/>
          </a:xfrm>
          <a:prstGeom prst="rect">
            <a:avLst/>
          </a:prstGeom>
          <a:noFill/>
          <a:ln/>
        </p:spPr>
        <p:txBody>
          <a:bodyPr wrap="none" lIns="0" tIns="0" rIns="0" bIns="0" rtlCol="0" anchor="t"/>
          <a:lstStyle/>
          <a:p>
            <a:pPr marL="0" indent="0" algn="l">
              <a:lnSpc>
                <a:spcPts val="2200"/>
              </a:lnSpc>
              <a:buNone/>
            </a:pPr>
            <a:r>
              <a:rPr lang="en-US" sz="1600" dirty="0">
                <a:solidFill>
                  <a:srgbClr val="E0D6DE"/>
                </a:solidFill>
                <a:latin typeface="Arial" panose="020B0604020202020204" pitchFamily="34" charset="0"/>
                <a:ea typeface="Noto Sans TC" pitchFamily="34" charset="-122"/>
                <a:cs typeface="Arial" panose="020B0604020202020204" pitchFamily="34" charset="0"/>
              </a:rPr>
              <a:t>Vulnerable to adversarial attacks</a:t>
            </a:r>
            <a:endParaRPr lang="en-US" sz="1600" dirty="0">
              <a:latin typeface="Arial" panose="020B0604020202020204" pitchFamily="34" charset="0"/>
              <a:cs typeface="Arial" panose="020B0604020202020204" pitchFamily="34" charset="0"/>
            </a:endParaRPr>
          </a:p>
        </p:txBody>
      </p:sp>
      <p:sp>
        <p:nvSpPr>
          <p:cNvPr id="12" name="Shape 6"/>
          <p:cNvSpPr/>
          <p:nvPr/>
        </p:nvSpPr>
        <p:spPr>
          <a:xfrm>
            <a:off x="5337810" y="3500914"/>
            <a:ext cx="8627150" cy="11430"/>
          </a:xfrm>
          <a:prstGeom prst="roundRect">
            <a:avLst>
              <a:gd name="adj" fmla="val 232922"/>
            </a:avLst>
          </a:prstGeom>
          <a:solidFill>
            <a:srgbClr val="3F3F44"/>
          </a:solidFill>
          <a:ln/>
        </p:spPr>
        <p:txBody>
          <a:bodyPr/>
          <a:lstStyle/>
          <a:p>
            <a:endParaRPr lang="en-US" sz="2400">
              <a:latin typeface="Arial" panose="020B0604020202020204" pitchFamily="34" charset="0"/>
              <a:cs typeface="Arial" panose="020B0604020202020204" pitchFamily="34" charset="0"/>
            </a:endParaRPr>
          </a:p>
        </p:txBody>
      </p:sp>
      <p:pic>
        <p:nvPicPr>
          <p:cNvPr id="13" name="Image 4" descr="preencoded.png"/>
          <p:cNvPicPr>
            <a:picLocks noChangeAspect="1"/>
          </p:cNvPicPr>
          <p:nvPr/>
        </p:nvPicPr>
        <p:blipFill>
          <a:blip r:embed="rId9"/>
          <a:stretch>
            <a:fillRect/>
          </a:stretch>
        </p:blipFill>
        <p:spPr>
          <a:xfrm>
            <a:off x="1980009" y="3532584"/>
            <a:ext cx="3976211" cy="1022390"/>
          </a:xfrm>
          <a:prstGeom prst="rect">
            <a:avLst/>
          </a:prstGeom>
        </p:spPr>
      </p:pic>
      <p:pic>
        <p:nvPicPr>
          <p:cNvPr id="14" name="Image 5" descr="preencoded.png"/>
          <p:cNvPicPr>
            <a:picLocks noChangeAspect="1"/>
          </p:cNvPicPr>
          <p:nvPr/>
        </p:nvPicPr>
        <p:blipFill>
          <a:blip r:embed="rId10"/>
          <a:stretch>
            <a:fillRect/>
          </a:stretch>
        </p:blipFill>
        <p:spPr>
          <a:xfrm>
            <a:off x="3843338" y="3887748"/>
            <a:ext cx="249555" cy="311944"/>
          </a:xfrm>
          <a:prstGeom prst="rect">
            <a:avLst/>
          </a:prstGeom>
        </p:spPr>
      </p:pic>
      <p:sp>
        <p:nvSpPr>
          <p:cNvPr id="15" name="Text 7"/>
          <p:cNvSpPr/>
          <p:nvPr/>
        </p:nvSpPr>
        <p:spPr>
          <a:xfrm>
            <a:off x="6133624" y="3709988"/>
            <a:ext cx="2441615" cy="277178"/>
          </a:xfrm>
          <a:prstGeom prst="rect">
            <a:avLst/>
          </a:prstGeom>
          <a:noFill/>
          <a:ln/>
        </p:spPr>
        <p:txBody>
          <a:bodyPr wrap="none" lIns="0" tIns="0" rIns="0" bIns="0" rtlCol="0" anchor="t"/>
          <a:lstStyle/>
          <a:p>
            <a:pPr marL="0" indent="0" algn="l">
              <a:lnSpc>
                <a:spcPts val="2150"/>
              </a:lnSpc>
              <a:buNone/>
            </a:pPr>
            <a:r>
              <a:rPr lang="en-US" sz="2000" dirty="0">
                <a:solidFill>
                  <a:srgbClr val="E0D6DE"/>
                </a:solidFill>
                <a:latin typeface="Arial" panose="020B0604020202020204" pitchFamily="34" charset="0"/>
                <a:ea typeface="Sora Medium" pitchFamily="34" charset="-122"/>
                <a:cs typeface="Arial" panose="020B0604020202020204" pitchFamily="34" charset="0"/>
              </a:rPr>
              <a:t>Limited Explainability</a:t>
            </a:r>
            <a:endParaRPr lang="en-US" sz="2000" dirty="0">
              <a:latin typeface="Arial" panose="020B0604020202020204" pitchFamily="34" charset="0"/>
              <a:cs typeface="Arial" panose="020B0604020202020204" pitchFamily="34" charset="0"/>
            </a:endParaRPr>
          </a:p>
        </p:txBody>
      </p:sp>
      <p:sp>
        <p:nvSpPr>
          <p:cNvPr id="16" name="Text 8"/>
          <p:cNvSpPr/>
          <p:nvPr/>
        </p:nvSpPr>
        <p:spPr>
          <a:xfrm>
            <a:off x="6133624" y="4093607"/>
            <a:ext cx="3179683" cy="283964"/>
          </a:xfrm>
          <a:prstGeom prst="rect">
            <a:avLst/>
          </a:prstGeom>
          <a:noFill/>
          <a:ln/>
        </p:spPr>
        <p:txBody>
          <a:bodyPr wrap="none" lIns="0" tIns="0" rIns="0" bIns="0" rtlCol="0" anchor="t"/>
          <a:lstStyle/>
          <a:p>
            <a:pPr marL="0" indent="0" algn="l">
              <a:lnSpc>
                <a:spcPts val="2200"/>
              </a:lnSpc>
              <a:buNone/>
            </a:pPr>
            <a:r>
              <a:rPr lang="en-US" sz="1600" dirty="0">
                <a:solidFill>
                  <a:srgbClr val="E0D6DE"/>
                </a:solidFill>
                <a:latin typeface="Arial" panose="020B0604020202020204" pitchFamily="34" charset="0"/>
                <a:ea typeface="Noto Sans TC" pitchFamily="34" charset="-122"/>
                <a:cs typeface="Arial" panose="020B0604020202020204" pitchFamily="34" charset="0"/>
              </a:rPr>
              <a:t>Most models function as "black boxes"</a:t>
            </a:r>
            <a:endParaRPr lang="en-US" sz="1600" dirty="0">
              <a:latin typeface="Arial" panose="020B0604020202020204" pitchFamily="34" charset="0"/>
              <a:cs typeface="Arial" panose="020B0604020202020204" pitchFamily="34" charset="0"/>
            </a:endParaRPr>
          </a:p>
        </p:txBody>
      </p:sp>
      <p:sp>
        <p:nvSpPr>
          <p:cNvPr id="17" name="Shape 9"/>
          <p:cNvSpPr/>
          <p:nvPr/>
        </p:nvSpPr>
        <p:spPr>
          <a:xfrm>
            <a:off x="6000512" y="4567595"/>
            <a:ext cx="7964448" cy="11430"/>
          </a:xfrm>
          <a:prstGeom prst="roundRect">
            <a:avLst>
              <a:gd name="adj" fmla="val 232922"/>
            </a:avLst>
          </a:prstGeom>
          <a:solidFill>
            <a:srgbClr val="3F3F44"/>
          </a:solidFill>
          <a:ln/>
        </p:spPr>
        <p:txBody>
          <a:bodyPr/>
          <a:lstStyle/>
          <a:p>
            <a:endParaRPr lang="en-US" sz="2400">
              <a:latin typeface="Arial" panose="020B0604020202020204" pitchFamily="34" charset="0"/>
              <a:cs typeface="Arial" panose="020B0604020202020204" pitchFamily="34" charset="0"/>
            </a:endParaRPr>
          </a:p>
        </p:txBody>
      </p:sp>
      <p:pic>
        <p:nvPicPr>
          <p:cNvPr id="18" name="Image 6" descr="preencoded.png"/>
          <p:cNvPicPr>
            <a:picLocks noChangeAspect="1"/>
          </p:cNvPicPr>
          <p:nvPr/>
        </p:nvPicPr>
        <p:blipFill>
          <a:blip r:embed="rId11"/>
          <a:stretch>
            <a:fillRect/>
          </a:stretch>
        </p:blipFill>
        <p:spPr>
          <a:xfrm>
            <a:off x="1317308" y="4599265"/>
            <a:ext cx="5301615" cy="1022390"/>
          </a:xfrm>
          <a:prstGeom prst="rect">
            <a:avLst/>
          </a:prstGeom>
        </p:spPr>
      </p:pic>
      <p:pic>
        <p:nvPicPr>
          <p:cNvPr id="19" name="Image 7" descr="preencoded.png"/>
          <p:cNvPicPr>
            <a:picLocks noChangeAspect="1"/>
          </p:cNvPicPr>
          <p:nvPr/>
        </p:nvPicPr>
        <p:blipFill>
          <a:blip r:embed="rId12"/>
          <a:stretch>
            <a:fillRect/>
          </a:stretch>
        </p:blipFill>
        <p:spPr>
          <a:xfrm>
            <a:off x="3843338" y="4954429"/>
            <a:ext cx="249555" cy="311944"/>
          </a:xfrm>
          <a:prstGeom prst="rect">
            <a:avLst/>
          </a:prstGeom>
        </p:spPr>
      </p:pic>
      <p:sp>
        <p:nvSpPr>
          <p:cNvPr id="20" name="Text 10"/>
          <p:cNvSpPr/>
          <p:nvPr/>
        </p:nvSpPr>
        <p:spPr>
          <a:xfrm>
            <a:off x="6796326" y="4776668"/>
            <a:ext cx="2385417" cy="277178"/>
          </a:xfrm>
          <a:prstGeom prst="rect">
            <a:avLst/>
          </a:prstGeom>
          <a:noFill/>
          <a:ln/>
        </p:spPr>
        <p:txBody>
          <a:bodyPr wrap="none" lIns="0" tIns="0" rIns="0" bIns="0" rtlCol="0" anchor="t"/>
          <a:lstStyle/>
          <a:p>
            <a:pPr marL="0" indent="0" algn="l">
              <a:lnSpc>
                <a:spcPts val="2150"/>
              </a:lnSpc>
              <a:buNone/>
            </a:pPr>
            <a:r>
              <a:rPr lang="en-US" sz="2000" dirty="0">
                <a:solidFill>
                  <a:srgbClr val="E0D6DE"/>
                </a:solidFill>
                <a:latin typeface="Arial" panose="020B0604020202020204" pitchFamily="34" charset="0"/>
                <a:ea typeface="Sora Medium" pitchFamily="34" charset="-122"/>
                <a:cs typeface="Arial" panose="020B0604020202020204" pitchFamily="34" charset="0"/>
              </a:rPr>
              <a:t>Energy Consumption</a:t>
            </a:r>
            <a:endParaRPr lang="en-US" sz="2000" dirty="0">
              <a:latin typeface="Arial" panose="020B0604020202020204" pitchFamily="34" charset="0"/>
              <a:cs typeface="Arial" panose="020B0604020202020204" pitchFamily="34" charset="0"/>
            </a:endParaRPr>
          </a:p>
        </p:txBody>
      </p:sp>
      <p:sp>
        <p:nvSpPr>
          <p:cNvPr id="21" name="Text 11"/>
          <p:cNvSpPr/>
          <p:nvPr/>
        </p:nvSpPr>
        <p:spPr>
          <a:xfrm>
            <a:off x="6796326" y="5160288"/>
            <a:ext cx="4065389" cy="283964"/>
          </a:xfrm>
          <a:prstGeom prst="rect">
            <a:avLst/>
          </a:prstGeom>
          <a:noFill/>
          <a:ln/>
        </p:spPr>
        <p:txBody>
          <a:bodyPr wrap="none" lIns="0" tIns="0" rIns="0" bIns="0" rtlCol="0" anchor="t"/>
          <a:lstStyle/>
          <a:p>
            <a:pPr marL="0" indent="0" algn="l">
              <a:lnSpc>
                <a:spcPts val="2200"/>
              </a:lnSpc>
              <a:buNone/>
            </a:pPr>
            <a:r>
              <a:rPr lang="en-US" sz="1600" dirty="0">
                <a:solidFill>
                  <a:srgbClr val="E0D6DE"/>
                </a:solidFill>
                <a:latin typeface="Arial" panose="020B0604020202020204" pitchFamily="34" charset="0"/>
                <a:ea typeface="Noto Sans TC" pitchFamily="34" charset="-122"/>
                <a:cs typeface="Arial" panose="020B0604020202020204" pitchFamily="34" charset="0"/>
              </a:rPr>
              <a:t>Training requires significant computing resources</a:t>
            </a:r>
            <a:endParaRPr lang="en-US" sz="1600" dirty="0">
              <a:latin typeface="Arial" panose="020B0604020202020204" pitchFamily="34" charset="0"/>
              <a:cs typeface="Arial" panose="020B0604020202020204" pitchFamily="34" charset="0"/>
            </a:endParaRPr>
          </a:p>
        </p:txBody>
      </p:sp>
      <p:sp>
        <p:nvSpPr>
          <p:cNvPr id="22" name="Shape 12"/>
          <p:cNvSpPr/>
          <p:nvPr/>
        </p:nvSpPr>
        <p:spPr>
          <a:xfrm>
            <a:off x="6663214" y="5634276"/>
            <a:ext cx="7301746" cy="11430"/>
          </a:xfrm>
          <a:prstGeom prst="roundRect">
            <a:avLst>
              <a:gd name="adj" fmla="val 232922"/>
            </a:avLst>
          </a:prstGeom>
          <a:solidFill>
            <a:srgbClr val="3F3F44"/>
          </a:solidFill>
          <a:ln/>
        </p:spPr>
        <p:txBody>
          <a:bodyPr/>
          <a:lstStyle/>
          <a:p>
            <a:endParaRPr lang="en-US" sz="2400">
              <a:latin typeface="Arial" panose="020B0604020202020204" pitchFamily="34" charset="0"/>
              <a:cs typeface="Arial" panose="020B0604020202020204" pitchFamily="34" charset="0"/>
            </a:endParaRPr>
          </a:p>
        </p:txBody>
      </p:sp>
      <p:pic>
        <p:nvPicPr>
          <p:cNvPr id="23" name="Image 8" descr="preencoded.png"/>
          <p:cNvPicPr>
            <a:picLocks noChangeAspect="1"/>
          </p:cNvPicPr>
          <p:nvPr/>
        </p:nvPicPr>
        <p:blipFill>
          <a:blip r:embed="rId13"/>
          <a:stretch>
            <a:fillRect/>
          </a:stretch>
        </p:blipFill>
        <p:spPr>
          <a:xfrm>
            <a:off x="654606" y="5665946"/>
            <a:ext cx="6627019" cy="1022390"/>
          </a:xfrm>
          <a:prstGeom prst="rect">
            <a:avLst/>
          </a:prstGeom>
        </p:spPr>
      </p:pic>
      <p:pic>
        <p:nvPicPr>
          <p:cNvPr id="24" name="Image 9" descr="preencoded.png"/>
          <p:cNvPicPr>
            <a:picLocks noChangeAspect="1"/>
          </p:cNvPicPr>
          <p:nvPr/>
        </p:nvPicPr>
        <p:blipFill>
          <a:blip r:embed="rId14"/>
          <a:stretch>
            <a:fillRect/>
          </a:stretch>
        </p:blipFill>
        <p:spPr>
          <a:xfrm>
            <a:off x="3843338" y="6021110"/>
            <a:ext cx="249555" cy="311944"/>
          </a:xfrm>
          <a:prstGeom prst="rect">
            <a:avLst/>
          </a:prstGeom>
        </p:spPr>
      </p:pic>
      <p:sp>
        <p:nvSpPr>
          <p:cNvPr id="25" name="Text 13"/>
          <p:cNvSpPr/>
          <p:nvPr/>
        </p:nvSpPr>
        <p:spPr>
          <a:xfrm>
            <a:off x="7459027" y="5843349"/>
            <a:ext cx="2218492" cy="277178"/>
          </a:xfrm>
          <a:prstGeom prst="rect">
            <a:avLst/>
          </a:prstGeom>
          <a:noFill/>
          <a:ln/>
        </p:spPr>
        <p:txBody>
          <a:bodyPr wrap="none" lIns="0" tIns="0" rIns="0" bIns="0" rtlCol="0" anchor="t"/>
          <a:lstStyle/>
          <a:p>
            <a:pPr marL="0" indent="0" algn="l">
              <a:lnSpc>
                <a:spcPts val="2150"/>
              </a:lnSpc>
              <a:buNone/>
            </a:pPr>
            <a:r>
              <a:rPr lang="en-US" sz="2000" dirty="0">
                <a:solidFill>
                  <a:srgbClr val="E0D6DE"/>
                </a:solidFill>
                <a:latin typeface="Arial" panose="020B0604020202020204" pitchFamily="34" charset="0"/>
                <a:ea typeface="Sora Medium" pitchFamily="34" charset="-122"/>
                <a:cs typeface="Arial" panose="020B0604020202020204" pitchFamily="34" charset="0"/>
              </a:rPr>
              <a:t>Ethical Concerns</a:t>
            </a:r>
            <a:endParaRPr lang="en-US" sz="2000" dirty="0">
              <a:latin typeface="Arial" panose="020B0604020202020204" pitchFamily="34" charset="0"/>
              <a:cs typeface="Arial" panose="020B0604020202020204" pitchFamily="34" charset="0"/>
            </a:endParaRPr>
          </a:p>
        </p:txBody>
      </p:sp>
      <p:sp>
        <p:nvSpPr>
          <p:cNvPr id="26" name="Text 14"/>
          <p:cNvSpPr/>
          <p:nvPr/>
        </p:nvSpPr>
        <p:spPr>
          <a:xfrm>
            <a:off x="7459027" y="6226969"/>
            <a:ext cx="3010376" cy="283964"/>
          </a:xfrm>
          <a:prstGeom prst="rect">
            <a:avLst/>
          </a:prstGeom>
          <a:noFill/>
          <a:ln/>
        </p:spPr>
        <p:txBody>
          <a:bodyPr wrap="none" lIns="0" tIns="0" rIns="0" bIns="0" rtlCol="0" anchor="t"/>
          <a:lstStyle/>
          <a:p>
            <a:pPr marL="0" indent="0" algn="l">
              <a:lnSpc>
                <a:spcPts val="2200"/>
              </a:lnSpc>
              <a:buNone/>
            </a:pPr>
            <a:r>
              <a:rPr lang="en-US" sz="1600" dirty="0">
                <a:solidFill>
                  <a:srgbClr val="E0D6DE"/>
                </a:solidFill>
                <a:latin typeface="Arial" panose="020B0604020202020204" pitchFamily="34" charset="0"/>
                <a:ea typeface="Noto Sans TC" pitchFamily="34" charset="-122"/>
                <a:cs typeface="Arial" panose="020B0604020202020204" pitchFamily="34" charset="0"/>
              </a:rPr>
              <a:t>Privacy, bias, and surveillance issues</a:t>
            </a:r>
            <a:endParaRPr lang="en-US" sz="1600" dirty="0">
              <a:latin typeface="Arial" panose="020B0604020202020204" pitchFamily="34" charset="0"/>
              <a:cs typeface="Arial" panose="020B0604020202020204" pitchFamily="34" charset="0"/>
            </a:endParaRPr>
          </a:p>
        </p:txBody>
      </p:sp>
      <p:sp>
        <p:nvSpPr>
          <p:cNvPr id="27" name="Text 15"/>
          <p:cNvSpPr/>
          <p:nvPr/>
        </p:nvSpPr>
        <p:spPr>
          <a:xfrm>
            <a:off x="621149" y="6888004"/>
            <a:ext cx="13388102" cy="851892"/>
          </a:xfrm>
          <a:prstGeom prst="rect">
            <a:avLst/>
          </a:prstGeom>
          <a:noFill/>
          <a:ln/>
        </p:spPr>
        <p:txBody>
          <a:bodyPr wrap="square" lIns="0" tIns="0" rIns="0" bIns="0" rtlCol="0" anchor="t"/>
          <a:lstStyle/>
          <a:p>
            <a:pPr marL="0" indent="0" algn="l">
              <a:lnSpc>
                <a:spcPts val="2200"/>
              </a:lnSpc>
              <a:buNone/>
            </a:pPr>
            <a:r>
              <a:rPr lang="en-US" dirty="0">
                <a:solidFill>
                  <a:srgbClr val="E0D6DE"/>
                </a:solidFill>
                <a:latin typeface="Arial" panose="020B0604020202020204" pitchFamily="34" charset="0"/>
                <a:ea typeface="Noto Sans TC" pitchFamily="34" charset="-122"/>
                <a:cs typeface="Arial" panose="020B0604020202020204" pitchFamily="34" charset="0"/>
              </a:rPr>
              <a:t>Despite impressive advances, computer vision still faces significant hurdles. The field's reliance on massive datasets creates barriers for smaller organizations, while the vulnerability to subtle image manipulations raises safety concerns for critical applications. The "black box" nature of many models limits trust and accountability, and the environmental impact of training large models remains substantial.</a:t>
            </a:r>
            <a:endParaRPr lang="en-US" dirty="0">
              <a:latin typeface="Arial" panose="020B0604020202020204" pitchFamily="34" charset="0"/>
              <a:cs typeface="Arial" panose="020B0604020202020204" pitchFamily="34" charset="0"/>
            </a:endParaRPr>
          </a:p>
        </p:txBody>
      </p:sp>
      <p:pic>
        <p:nvPicPr>
          <p:cNvPr id="28" name="Audio Recording Apr 29, 2025 at 3:02:43 PM">
            <a:hlinkClick r:id="" action="ppaction://media"/>
            <a:extLst>
              <a:ext uri="{FF2B5EF4-FFF2-40B4-BE49-F238E27FC236}">
                <a16:creationId xmlns:a16="http://schemas.microsoft.com/office/drawing/2014/main" id="{3B68483D-4F53-C388-E411-E6E0279AFB5C}"/>
              </a:ext>
            </a:extLst>
          </p:cNvPr>
          <p:cNvPicPr>
            <a:picLocks noChangeAspect="1"/>
          </p:cNvPicPr>
          <p:nvPr>
            <a:audioFile r:link="rId2"/>
            <p:extLst>
              <p:ext uri="{DAA4B4D4-6D71-4841-9C94-3DE7FCFB9230}">
                <p14:media xmlns:p14="http://schemas.microsoft.com/office/powerpoint/2010/main" r:embed="rId1"/>
              </p:ext>
            </p:extLst>
          </p:nvPr>
        </p:nvPicPr>
        <p:blipFill>
          <a:blip r:embed="rId15"/>
          <a:stretch>
            <a:fillRect/>
          </a:stretch>
        </p:blipFill>
        <p:spPr>
          <a:xfrm>
            <a:off x="11762154" y="767000"/>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9452"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8"/>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74370" y="531971"/>
            <a:ext cx="10115788" cy="602099"/>
          </a:xfrm>
          <a:prstGeom prst="rect">
            <a:avLst/>
          </a:prstGeom>
          <a:noFill/>
          <a:ln/>
        </p:spPr>
        <p:txBody>
          <a:bodyPr wrap="none" lIns="0" tIns="0" rIns="0" bIns="0" rtlCol="0" anchor="t"/>
          <a:lstStyle/>
          <a:p>
            <a:pPr marL="0" indent="0" algn="l">
              <a:lnSpc>
                <a:spcPts val="4700"/>
              </a:lnSpc>
              <a:buNone/>
            </a:pPr>
            <a:r>
              <a:rPr lang="en-US" sz="4400" b="1" dirty="0">
                <a:solidFill>
                  <a:srgbClr val="97B8FF"/>
                </a:solidFill>
                <a:latin typeface="Arial Black" panose="020B0604020202020204" pitchFamily="34" charset="0"/>
                <a:ea typeface="Sora Medium" pitchFamily="34" charset="-122"/>
                <a:cs typeface="Arial Black" panose="020B0604020202020204" pitchFamily="34" charset="0"/>
              </a:rPr>
              <a:t>Future Developments in Computer Vision</a:t>
            </a:r>
            <a:endParaRPr lang="en-US" sz="4400" b="1" dirty="0">
              <a:latin typeface="Arial Black" panose="020B0604020202020204" pitchFamily="34" charset="0"/>
              <a:cs typeface="Arial Black" panose="020B0604020202020204" pitchFamily="34" charset="0"/>
            </a:endParaRPr>
          </a:p>
        </p:txBody>
      </p:sp>
      <p:sp>
        <p:nvSpPr>
          <p:cNvPr id="3" name="Shape 1"/>
          <p:cNvSpPr/>
          <p:nvPr/>
        </p:nvSpPr>
        <p:spPr>
          <a:xfrm>
            <a:off x="674370" y="1519357"/>
            <a:ext cx="1660208" cy="1110020"/>
          </a:xfrm>
          <a:prstGeom prst="roundRect">
            <a:avLst>
              <a:gd name="adj" fmla="val 2604"/>
            </a:avLst>
          </a:prstGeom>
          <a:solidFill>
            <a:srgbClr val="26262B"/>
          </a:solidFill>
          <a:ln/>
        </p:spPr>
        <p:txBody>
          <a:bodyPr/>
          <a:lstStyle/>
          <a:p>
            <a:endParaRPr lang="en-US" sz="2400">
              <a:latin typeface="Arial" panose="020B0604020202020204" pitchFamily="34" charset="0"/>
              <a:cs typeface="Arial" panose="020B0604020202020204" pitchFamily="34" charset="0"/>
            </a:endParaRPr>
          </a:p>
        </p:txBody>
      </p:sp>
      <p:pic>
        <p:nvPicPr>
          <p:cNvPr id="4" name="Image 0" descr="preencoded.png"/>
          <p:cNvPicPr>
            <a:picLocks noChangeAspect="1"/>
          </p:cNvPicPr>
          <p:nvPr/>
        </p:nvPicPr>
        <p:blipFill>
          <a:blip r:embed="rId5"/>
          <a:stretch>
            <a:fillRect/>
          </a:stretch>
        </p:blipFill>
        <p:spPr>
          <a:xfrm>
            <a:off x="1368981" y="1905000"/>
            <a:ext cx="270867" cy="338614"/>
          </a:xfrm>
          <a:prstGeom prst="rect">
            <a:avLst/>
          </a:prstGeom>
        </p:spPr>
      </p:pic>
      <p:sp>
        <p:nvSpPr>
          <p:cNvPr id="5" name="Text 2"/>
          <p:cNvSpPr/>
          <p:nvPr/>
        </p:nvSpPr>
        <p:spPr>
          <a:xfrm>
            <a:off x="2527221" y="1712000"/>
            <a:ext cx="2408515" cy="300990"/>
          </a:xfrm>
          <a:prstGeom prst="rect">
            <a:avLst/>
          </a:prstGeom>
          <a:noFill/>
          <a:ln/>
        </p:spPr>
        <p:txBody>
          <a:bodyPr wrap="none" lIns="0" tIns="0" rIns="0" bIns="0" rtlCol="0" anchor="t"/>
          <a:lstStyle/>
          <a:p>
            <a:pPr marL="0" indent="0" algn="l">
              <a:lnSpc>
                <a:spcPts val="2350"/>
              </a:lnSpc>
              <a:buNone/>
            </a:pPr>
            <a:r>
              <a:rPr lang="en-US" sz="2400" dirty="0">
                <a:solidFill>
                  <a:srgbClr val="E0D6DE"/>
                </a:solidFill>
                <a:latin typeface="Arial" panose="020B0604020202020204" pitchFamily="34" charset="0"/>
                <a:ea typeface="Sora Medium" pitchFamily="34" charset="-122"/>
                <a:cs typeface="Arial" panose="020B0604020202020204" pitchFamily="34" charset="0"/>
              </a:rPr>
              <a:t>Few-Shot Learning</a:t>
            </a:r>
            <a:endParaRPr lang="en-US" sz="2400" dirty="0">
              <a:latin typeface="Arial" panose="020B0604020202020204" pitchFamily="34" charset="0"/>
              <a:cs typeface="Arial" panose="020B0604020202020204" pitchFamily="34" charset="0"/>
            </a:endParaRPr>
          </a:p>
        </p:txBody>
      </p:sp>
      <p:sp>
        <p:nvSpPr>
          <p:cNvPr id="6" name="Text 3"/>
          <p:cNvSpPr/>
          <p:nvPr/>
        </p:nvSpPr>
        <p:spPr>
          <a:xfrm>
            <a:off x="2527221" y="2128599"/>
            <a:ext cx="3603308" cy="308134"/>
          </a:xfrm>
          <a:prstGeom prst="rect">
            <a:avLst/>
          </a:prstGeom>
          <a:noFill/>
          <a:ln/>
        </p:spPr>
        <p:txBody>
          <a:bodyPr wrap="none" lIns="0" tIns="0" rIns="0" bIns="0" rtlCol="0" anchor="t"/>
          <a:lstStyle/>
          <a:p>
            <a:pPr marL="0" indent="0" algn="l">
              <a:lnSpc>
                <a:spcPts val="2400"/>
              </a:lnSpc>
              <a:buNone/>
            </a:pPr>
            <a:r>
              <a:rPr lang="en-US" dirty="0">
                <a:solidFill>
                  <a:srgbClr val="E0D6DE"/>
                </a:solidFill>
                <a:latin typeface="Arial" panose="020B0604020202020204" pitchFamily="34" charset="0"/>
                <a:ea typeface="Noto Sans TC" pitchFamily="34" charset="-122"/>
                <a:cs typeface="Arial" panose="020B0604020202020204" pitchFamily="34" charset="0"/>
              </a:rPr>
              <a:t>Models that learn from limited examples</a:t>
            </a:r>
            <a:endParaRPr lang="en-US" dirty="0">
              <a:latin typeface="Arial" panose="020B0604020202020204" pitchFamily="34" charset="0"/>
              <a:cs typeface="Arial" panose="020B0604020202020204" pitchFamily="34" charset="0"/>
            </a:endParaRPr>
          </a:p>
        </p:txBody>
      </p:sp>
      <p:sp>
        <p:nvSpPr>
          <p:cNvPr id="7" name="Shape 4"/>
          <p:cNvSpPr/>
          <p:nvPr/>
        </p:nvSpPr>
        <p:spPr>
          <a:xfrm>
            <a:off x="2430899" y="2619851"/>
            <a:ext cx="11428809" cy="11430"/>
          </a:xfrm>
          <a:prstGeom prst="roundRect">
            <a:avLst>
              <a:gd name="adj" fmla="val 252867"/>
            </a:avLst>
          </a:prstGeom>
          <a:solidFill>
            <a:srgbClr val="3F3F44"/>
          </a:solidFill>
          <a:ln/>
        </p:spPr>
        <p:txBody>
          <a:bodyPr/>
          <a:lstStyle/>
          <a:p>
            <a:endParaRPr lang="en-US" sz="2400">
              <a:latin typeface="Arial" panose="020B0604020202020204" pitchFamily="34" charset="0"/>
              <a:cs typeface="Arial" panose="020B0604020202020204" pitchFamily="34" charset="0"/>
            </a:endParaRPr>
          </a:p>
        </p:txBody>
      </p:sp>
      <p:sp>
        <p:nvSpPr>
          <p:cNvPr id="8" name="Shape 5"/>
          <p:cNvSpPr/>
          <p:nvPr/>
        </p:nvSpPr>
        <p:spPr>
          <a:xfrm>
            <a:off x="674370" y="2725698"/>
            <a:ext cx="3320415" cy="1110020"/>
          </a:xfrm>
          <a:prstGeom prst="roundRect">
            <a:avLst>
              <a:gd name="adj" fmla="val 2604"/>
            </a:avLst>
          </a:prstGeom>
          <a:solidFill>
            <a:srgbClr val="26262B"/>
          </a:solidFill>
          <a:ln/>
        </p:spPr>
        <p:txBody>
          <a:bodyPr/>
          <a:lstStyle/>
          <a:p>
            <a:endParaRPr lang="en-US" sz="2400">
              <a:latin typeface="Arial" panose="020B0604020202020204" pitchFamily="34" charset="0"/>
              <a:cs typeface="Arial" panose="020B0604020202020204" pitchFamily="34" charset="0"/>
            </a:endParaRPr>
          </a:p>
        </p:txBody>
      </p:sp>
      <p:pic>
        <p:nvPicPr>
          <p:cNvPr id="9" name="Image 1" descr="preencoded.png"/>
          <p:cNvPicPr>
            <a:picLocks noChangeAspect="1"/>
          </p:cNvPicPr>
          <p:nvPr/>
        </p:nvPicPr>
        <p:blipFill>
          <a:blip r:embed="rId6"/>
          <a:stretch>
            <a:fillRect/>
          </a:stretch>
        </p:blipFill>
        <p:spPr>
          <a:xfrm>
            <a:off x="2199084" y="3111341"/>
            <a:ext cx="270867" cy="338614"/>
          </a:xfrm>
          <a:prstGeom prst="rect">
            <a:avLst/>
          </a:prstGeom>
        </p:spPr>
      </p:pic>
      <p:sp>
        <p:nvSpPr>
          <p:cNvPr id="10" name="Text 6"/>
          <p:cNvSpPr/>
          <p:nvPr/>
        </p:nvSpPr>
        <p:spPr>
          <a:xfrm>
            <a:off x="4187428" y="2918341"/>
            <a:ext cx="2408515" cy="300990"/>
          </a:xfrm>
          <a:prstGeom prst="rect">
            <a:avLst/>
          </a:prstGeom>
          <a:noFill/>
          <a:ln/>
        </p:spPr>
        <p:txBody>
          <a:bodyPr wrap="none" lIns="0" tIns="0" rIns="0" bIns="0" rtlCol="0" anchor="t"/>
          <a:lstStyle/>
          <a:p>
            <a:pPr marL="0" indent="0" algn="l">
              <a:lnSpc>
                <a:spcPts val="2350"/>
              </a:lnSpc>
              <a:buNone/>
            </a:pPr>
            <a:r>
              <a:rPr lang="en-US" sz="2400" dirty="0">
                <a:solidFill>
                  <a:srgbClr val="E0D6DE"/>
                </a:solidFill>
                <a:latin typeface="Arial" panose="020B0604020202020204" pitchFamily="34" charset="0"/>
                <a:ea typeface="Sora Medium" pitchFamily="34" charset="-122"/>
                <a:cs typeface="Arial" panose="020B0604020202020204" pitchFamily="34" charset="0"/>
              </a:rPr>
              <a:t>Explainable AI</a:t>
            </a:r>
            <a:endParaRPr lang="en-US" sz="2400" dirty="0">
              <a:latin typeface="Arial" panose="020B0604020202020204" pitchFamily="34" charset="0"/>
              <a:cs typeface="Arial" panose="020B0604020202020204" pitchFamily="34" charset="0"/>
            </a:endParaRPr>
          </a:p>
        </p:txBody>
      </p:sp>
      <p:sp>
        <p:nvSpPr>
          <p:cNvPr id="11" name="Text 7"/>
          <p:cNvSpPr/>
          <p:nvPr/>
        </p:nvSpPr>
        <p:spPr>
          <a:xfrm>
            <a:off x="4187428" y="3334941"/>
            <a:ext cx="3546515" cy="308134"/>
          </a:xfrm>
          <a:prstGeom prst="rect">
            <a:avLst/>
          </a:prstGeom>
          <a:noFill/>
          <a:ln/>
        </p:spPr>
        <p:txBody>
          <a:bodyPr wrap="none" lIns="0" tIns="0" rIns="0" bIns="0" rtlCol="0" anchor="t"/>
          <a:lstStyle/>
          <a:p>
            <a:pPr marL="0" indent="0" algn="l">
              <a:lnSpc>
                <a:spcPts val="2400"/>
              </a:lnSpc>
              <a:buNone/>
            </a:pPr>
            <a:r>
              <a:rPr lang="en-US" dirty="0">
                <a:solidFill>
                  <a:srgbClr val="E0D6DE"/>
                </a:solidFill>
                <a:latin typeface="Arial" panose="020B0604020202020204" pitchFamily="34" charset="0"/>
                <a:ea typeface="Noto Sans TC" pitchFamily="34" charset="-122"/>
                <a:cs typeface="Arial" panose="020B0604020202020204" pitchFamily="34" charset="0"/>
              </a:rPr>
              <a:t>Transparent decision-making processes</a:t>
            </a:r>
            <a:endParaRPr lang="en-US" dirty="0">
              <a:latin typeface="Arial" panose="020B0604020202020204" pitchFamily="34" charset="0"/>
              <a:cs typeface="Arial" panose="020B0604020202020204" pitchFamily="34" charset="0"/>
            </a:endParaRPr>
          </a:p>
        </p:txBody>
      </p:sp>
      <p:sp>
        <p:nvSpPr>
          <p:cNvPr id="12" name="Shape 8"/>
          <p:cNvSpPr/>
          <p:nvPr/>
        </p:nvSpPr>
        <p:spPr>
          <a:xfrm>
            <a:off x="4091107" y="3826193"/>
            <a:ext cx="9768602" cy="11430"/>
          </a:xfrm>
          <a:prstGeom prst="roundRect">
            <a:avLst>
              <a:gd name="adj" fmla="val 252867"/>
            </a:avLst>
          </a:prstGeom>
          <a:solidFill>
            <a:srgbClr val="3F3F44"/>
          </a:solidFill>
          <a:ln/>
        </p:spPr>
        <p:txBody>
          <a:bodyPr/>
          <a:lstStyle/>
          <a:p>
            <a:endParaRPr lang="en-US" sz="2400">
              <a:latin typeface="Arial" panose="020B0604020202020204" pitchFamily="34" charset="0"/>
              <a:cs typeface="Arial" panose="020B0604020202020204" pitchFamily="34" charset="0"/>
            </a:endParaRPr>
          </a:p>
        </p:txBody>
      </p:sp>
      <p:sp>
        <p:nvSpPr>
          <p:cNvPr id="13" name="Shape 9"/>
          <p:cNvSpPr/>
          <p:nvPr/>
        </p:nvSpPr>
        <p:spPr>
          <a:xfrm>
            <a:off x="674370" y="3932039"/>
            <a:ext cx="4980623" cy="1110020"/>
          </a:xfrm>
          <a:prstGeom prst="roundRect">
            <a:avLst>
              <a:gd name="adj" fmla="val 2604"/>
            </a:avLst>
          </a:prstGeom>
          <a:solidFill>
            <a:srgbClr val="26262B"/>
          </a:solidFill>
          <a:ln/>
        </p:spPr>
        <p:txBody>
          <a:bodyPr/>
          <a:lstStyle/>
          <a:p>
            <a:endParaRPr lang="en-US" sz="2400">
              <a:latin typeface="Arial" panose="020B0604020202020204" pitchFamily="34" charset="0"/>
              <a:cs typeface="Arial" panose="020B0604020202020204" pitchFamily="34" charset="0"/>
            </a:endParaRPr>
          </a:p>
        </p:txBody>
      </p:sp>
      <p:pic>
        <p:nvPicPr>
          <p:cNvPr id="14" name="Image 2" descr="preencoded.png"/>
          <p:cNvPicPr>
            <a:picLocks noChangeAspect="1"/>
          </p:cNvPicPr>
          <p:nvPr/>
        </p:nvPicPr>
        <p:blipFill>
          <a:blip r:embed="rId7"/>
          <a:stretch>
            <a:fillRect/>
          </a:stretch>
        </p:blipFill>
        <p:spPr>
          <a:xfrm>
            <a:off x="3029188" y="4317683"/>
            <a:ext cx="270867" cy="338614"/>
          </a:xfrm>
          <a:prstGeom prst="rect">
            <a:avLst/>
          </a:prstGeom>
        </p:spPr>
      </p:pic>
      <p:sp>
        <p:nvSpPr>
          <p:cNvPr id="15" name="Text 10"/>
          <p:cNvSpPr/>
          <p:nvPr/>
        </p:nvSpPr>
        <p:spPr>
          <a:xfrm>
            <a:off x="5847636" y="4124682"/>
            <a:ext cx="2483525" cy="300990"/>
          </a:xfrm>
          <a:prstGeom prst="rect">
            <a:avLst/>
          </a:prstGeom>
          <a:noFill/>
          <a:ln/>
        </p:spPr>
        <p:txBody>
          <a:bodyPr wrap="none" lIns="0" tIns="0" rIns="0" bIns="0" rtlCol="0" anchor="t"/>
          <a:lstStyle/>
          <a:p>
            <a:pPr marL="0" indent="0" algn="l">
              <a:lnSpc>
                <a:spcPts val="2350"/>
              </a:lnSpc>
              <a:buNone/>
            </a:pPr>
            <a:r>
              <a:rPr lang="en-US" sz="2400" dirty="0">
                <a:solidFill>
                  <a:srgbClr val="E0D6DE"/>
                </a:solidFill>
                <a:latin typeface="Arial" panose="020B0604020202020204" pitchFamily="34" charset="0"/>
                <a:ea typeface="Sora Medium" pitchFamily="34" charset="-122"/>
                <a:cs typeface="Arial" panose="020B0604020202020204" pitchFamily="34" charset="0"/>
              </a:rPr>
              <a:t>Efficient Computing</a:t>
            </a:r>
            <a:endParaRPr lang="en-US" sz="2400" dirty="0">
              <a:latin typeface="Arial" panose="020B0604020202020204" pitchFamily="34" charset="0"/>
              <a:cs typeface="Arial" panose="020B0604020202020204" pitchFamily="34" charset="0"/>
            </a:endParaRPr>
          </a:p>
        </p:txBody>
      </p:sp>
      <p:sp>
        <p:nvSpPr>
          <p:cNvPr id="16" name="Text 11"/>
          <p:cNvSpPr/>
          <p:nvPr/>
        </p:nvSpPr>
        <p:spPr>
          <a:xfrm>
            <a:off x="5847636" y="4541282"/>
            <a:ext cx="4632365" cy="308134"/>
          </a:xfrm>
          <a:prstGeom prst="rect">
            <a:avLst/>
          </a:prstGeom>
          <a:noFill/>
          <a:ln/>
        </p:spPr>
        <p:txBody>
          <a:bodyPr wrap="none" lIns="0" tIns="0" rIns="0" bIns="0" rtlCol="0" anchor="t"/>
          <a:lstStyle/>
          <a:p>
            <a:pPr marL="0" indent="0" algn="l">
              <a:lnSpc>
                <a:spcPts val="2400"/>
              </a:lnSpc>
              <a:buNone/>
            </a:pPr>
            <a:r>
              <a:rPr lang="en-US" dirty="0">
                <a:solidFill>
                  <a:srgbClr val="E0D6DE"/>
                </a:solidFill>
                <a:latin typeface="Arial" panose="020B0604020202020204" pitchFamily="34" charset="0"/>
                <a:ea typeface="Noto Sans TC" pitchFamily="34" charset="-122"/>
                <a:cs typeface="Arial" panose="020B0604020202020204" pitchFamily="34" charset="0"/>
              </a:rPr>
              <a:t>Lower energy consumption and mobile deployment</a:t>
            </a:r>
            <a:endParaRPr lang="en-US" dirty="0">
              <a:latin typeface="Arial" panose="020B0604020202020204" pitchFamily="34" charset="0"/>
              <a:cs typeface="Arial" panose="020B0604020202020204" pitchFamily="34" charset="0"/>
            </a:endParaRPr>
          </a:p>
        </p:txBody>
      </p:sp>
      <p:sp>
        <p:nvSpPr>
          <p:cNvPr id="17" name="Shape 12"/>
          <p:cNvSpPr/>
          <p:nvPr/>
        </p:nvSpPr>
        <p:spPr>
          <a:xfrm>
            <a:off x="5751314" y="5032534"/>
            <a:ext cx="8108394" cy="11430"/>
          </a:xfrm>
          <a:prstGeom prst="roundRect">
            <a:avLst>
              <a:gd name="adj" fmla="val 252867"/>
            </a:avLst>
          </a:prstGeom>
          <a:solidFill>
            <a:srgbClr val="3F3F44"/>
          </a:solidFill>
          <a:ln/>
        </p:spPr>
        <p:txBody>
          <a:bodyPr/>
          <a:lstStyle/>
          <a:p>
            <a:endParaRPr lang="en-US" sz="2400">
              <a:latin typeface="Arial" panose="020B0604020202020204" pitchFamily="34" charset="0"/>
              <a:cs typeface="Arial" panose="020B0604020202020204" pitchFamily="34" charset="0"/>
            </a:endParaRPr>
          </a:p>
        </p:txBody>
      </p:sp>
      <p:sp>
        <p:nvSpPr>
          <p:cNvPr id="18" name="Shape 13"/>
          <p:cNvSpPr/>
          <p:nvPr/>
        </p:nvSpPr>
        <p:spPr>
          <a:xfrm>
            <a:off x="674370" y="5138380"/>
            <a:ext cx="6640830" cy="1110020"/>
          </a:xfrm>
          <a:prstGeom prst="roundRect">
            <a:avLst>
              <a:gd name="adj" fmla="val 2604"/>
            </a:avLst>
          </a:prstGeom>
          <a:solidFill>
            <a:srgbClr val="26262B"/>
          </a:solidFill>
          <a:ln/>
        </p:spPr>
        <p:txBody>
          <a:bodyPr/>
          <a:lstStyle/>
          <a:p>
            <a:endParaRPr lang="en-US" sz="2400">
              <a:latin typeface="Arial" panose="020B0604020202020204" pitchFamily="34" charset="0"/>
              <a:cs typeface="Arial" panose="020B0604020202020204" pitchFamily="34" charset="0"/>
            </a:endParaRPr>
          </a:p>
        </p:txBody>
      </p:sp>
      <p:pic>
        <p:nvPicPr>
          <p:cNvPr id="19" name="Image 3" descr="preencoded.png"/>
          <p:cNvPicPr>
            <a:picLocks noChangeAspect="1"/>
          </p:cNvPicPr>
          <p:nvPr/>
        </p:nvPicPr>
        <p:blipFill>
          <a:blip r:embed="rId8"/>
          <a:stretch>
            <a:fillRect/>
          </a:stretch>
        </p:blipFill>
        <p:spPr>
          <a:xfrm>
            <a:off x="3859292" y="5524024"/>
            <a:ext cx="270867" cy="338614"/>
          </a:xfrm>
          <a:prstGeom prst="rect">
            <a:avLst/>
          </a:prstGeom>
        </p:spPr>
      </p:pic>
      <p:sp>
        <p:nvSpPr>
          <p:cNvPr id="20" name="Text 14"/>
          <p:cNvSpPr/>
          <p:nvPr/>
        </p:nvSpPr>
        <p:spPr>
          <a:xfrm>
            <a:off x="7507843" y="5331023"/>
            <a:ext cx="2841546" cy="300990"/>
          </a:xfrm>
          <a:prstGeom prst="rect">
            <a:avLst/>
          </a:prstGeom>
          <a:noFill/>
          <a:ln/>
        </p:spPr>
        <p:txBody>
          <a:bodyPr wrap="none" lIns="0" tIns="0" rIns="0" bIns="0" rtlCol="0" anchor="t"/>
          <a:lstStyle/>
          <a:p>
            <a:pPr marL="0" indent="0" algn="l">
              <a:lnSpc>
                <a:spcPts val="2350"/>
              </a:lnSpc>
              <a:buNone/>
            </a:pPr>
            <a:r>
              <a:rPr lang="en-US" sz="2400" dirty="0">
                <a:solidFill>
                  <a:srgbClr val="E0D6DE"/>
                </a:solidFill>
                <a:latin typeface="Arial" panose="020B0604020202020204" pitchFamily="34" charset="0"/>
                <a:ea typeface="Sora Medium" pitchFamily="34" charset="-122"/>
                <a:cs typeface="Arial" panose="020B0604020202020204" pitchFamily="34" charset="0"/>
              </a:rPr>
              <a:t>Multimodal Integration</a:t>
            </a:r>
            <a:endParaRPr lang="en-US" sz="2400" dirty="0">
              <a:latin typeface="Arial" panose="020B0604020202020204" pitchFamily="34" charset="0"/>
              <a:cs typeface="Arial" panose="020B0604020202020204" pitchFamily="34" charset="0"/>
            </a:endParaRPr>
          </a:p>
        </p:txBody>
      </p:sp>
      <p:sp>
        <p:nvSpPr>
          <p:cNvPr id="21" name="Text 15"/>
          <p:cNvSpPr/>
          <p:nvPr/>
        </p:nvSpPr>
        <p:spPr>
          <a:xfrm>
            <a:off x="7507843" y="5747623"/>
            <a:ext cx="4488180" cy="308134"/>
          </a:xfrm>
          <a:prstGeom prst="rect">
            <a:avLst/>
          </a:prstGeom>
          <a:noFill/>
          <a:ln/>
        </p:spPr>
        <p:txBody>
          <a:bodyPr wrap="none" lIns="0" tIns="0" rIns="0" bIns="0" rtlCol="0" anchor="t"/>
          <a:lstStyle/>
          <a:p>
            <a:pPr marL="0" indent="0" algn="l">
              <a:lnSpc>
                <a:spcPts val="2400"/>
              </a:lnSpc>
              <a:buNone/>
            </a:pPr>
            <a:r>
              <a:rPr lang="en-US" dirty="0">
                <a:solidFill>
                  <a:srgbClr val="E0D6DE"/>
                </a:solidFill>
                <a:latin typeface="Arial" panose="020B0604020202020204" pitchFamily="34" charset="0"/>
                <a:ea typeface="Noto Sans TC" pitchFamily="34" charset="-122"/>
                <a:cs typeface="Arial" panose="020B0604020202020204" pitchFamily="34" charset="0"/>
              </a:rPr>
              <a:t>Combining vision with other senses and reasoning</a:t>
            </a:r>
            <a:endParaRPr lang="en-US" dirty="0">
              <a:latin typeface="Arial" panose="020B0604020202020204" pitchFamily="34" charset="0"/>
              <a:cs typeface="Arial" panose="020B0604020202020204" pitchFamily="34" charset="0"/>
            </a:endParaRPr>
          </a:p>
        </p:txBody>
      </p:sp>
      <p:sp>
        <p:nvSpPr>
          <p:cNvPr id="22" name="Text 16"/>
          <p:cNvSpPr/>
          <p:nvPr/>
        </p:nvSpPr>
        <p:spPr>
          <a:xfrm>
            <a:off x="449179" y="6465094"/>
            <a:ext cx="13506851" cy="1393332"/>
          </a:xfrm>
          <a:prstGeom prst="rect">
            <a:avLst/>
          </a:prstGeom>
          <a:noFill/>
          <a:ln/>
        </p:spPr>
        <p:txBody>
          <a:bodyPr wrap="square" lIns="0" tIns="0" rIns="0" bIns="0" rtlCol="0" anchor="t"/>
          <a:lstStyle/>
          <a:p>
            <a:pPr marL="0" indent="0" algn="l">
              <a:lnSpc>
                <a:spcPts val="2400"/>
              </a:lnSpc>
              <a:buNone/>
            </a:pPr>
            <a:r>
              <a:rPr lang="en-US" sz="2000" dirty="0">
                <a:solidFill>
                  <a:srgbClr val="E0D6DE"/>
                </a:solidFill>
                <a:latin typeface="Arial" panose="020B0604020202020204" pitchFamily="34" charset="0"/>
                <a:ea typeface="Noto Sans TC" pitchFamily="34" charset="-122"/>
                <a:cs typeface="Arial" panose="020B0604020202020204" pitchFamily="34" charset="0"/>
              </a:rPr>
              <a:t>The future of computer vision lies in overcoming current limitations. Self-supervised and few-shot learning approaches promise to reduce data requirements, making the technology more accessible. Advances in explainable AI will help users understand and trust model decisions. More efficient architectures and techniques like model pruning will reduce environmental impact, while integration with other AI domains will create more holistic understanding systems.</a:t>
            </a:r>
            <a:endParaRPr lang="en-US" sz="2000" dirty="0">
              <a:latin typeface="Arial" panose="020B0604020202020204" pitchFamily="34" charset="0"/>
              <a:cs typeface="Arial" panose="020B0604020202020204" pitchFamily="34" charset="0"/>
            </a:endParaRPr>
          </a:p>
        </p:txBody>
      </p:sp>
      <p:pic>
        <p:nvPicPr>
          <p:cNvPr id="23" name="Audio Recording Apr 29, 2025 at 3:04:52 PM">
            <a:hlinkClick r:id="" action="ppaction://media"/>
            <a:extLst>
              <a:ext uri="{FF2B5EF4-FFF2-40B4-BE49-F238E27FC236}">
                <a16:creationId xmlns:a16="http://schemas.microsoft.com/office/drawing/2014/main" id="{67CA6798-0A8B-064B-EF1D-0A4335610E9E}"/>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484769" y="1127369"/>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3628"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36057"/>
            <a:ext cx="13042821" cy="1417558"/>
          </a:xfrm>
          <a:prstGeom prst="rect">
            <a:avLst/>
          </a:prstGeom>
          <a:noFill/>
          <a:ln/>
        </p:spPr>
        <p:txBody>
          <a:bodyPr wrap="square" lIns="0" tIns="0" rIns="0" bIns="0" rtlCol="0" anchor="t"/>
          <a:lstStyle/>
          <a:p>
            <a:pPr marL="0" indent="0" algn="ctr">
              <a:lnSpc>
                <a:spcPts val="5550"/>
              </a:lnSpc>
              <a:buNone/>
            </a:pPr>
            <a:r>
              <a:rPr lang="en-US" sz="4450" b="1" dirty="0">
                <a:solidFill>
                  <a:srgbClr val="97B8FF"/>
                </a:solidFill>
                <a:latin typeface="Arial Black" panose="020B0604020202020204" pitchFamily="34" charset="0"/>
                <a:ea typeface="Sora Medium" pitchFamily="34" charset="-122"/>
                <a:cs typeface="Arial Black" panose="020B0604020202020204" pitchFamily="34" charset="0"/>
              </a:rPr>
              <a:t>Conclusion: Bridging Machines and the Human World</a:t>
            </a:r>
            <a:endParaRPr lang="en-US" sz="4450" b="1" dirty="0">
              <a:latin typeface="Arial Black" panose="020B0604020202020204" pitchFamily="34" charset="0"/>
              <a:cs typeface="Arial Black" panose="020B0604020202020204" pitchFamily="34" charset="0"/>
            </a:endParaRPr>
          </a:p>
        </p:txBody>
      </p:sp>
      <p:sp>
        <p:nvSpPr>
          <p:cNvPr id="3" name="Text 1"/>
          <p:cNvSpPr/>
          <p:nvPr/>
        </p:nvSpPr>
        <p:spPr>
          <a:xfrm>
            <a:off x="793790" y="2820591"/>
            <a:ext cx="4120753" cy="748427"/>
          </a:xfrm>
          <a:prstGeom prst="rect">
            <a:avLst/>
          </a:prstGeom>
          <a:noFill/>
          <a:ln/>
        </p:spPr>
        <p:txBody>
          <a:bodyPr wrap="none" lIns="0" tIns="0" rIns="0" bIns="0" rtlCol="0" anchor="t"/>
          <a:lstStyle/>
          <a:p>
            <a:pPr marL="0" indent="0" algn="ctr">
              <a:lnSpc>
                <a:spcPts val="5850"/>
              </a:lnSpc>
              <a:buNone/>
            </a:pPr>
            <a:r>
              <a:rPr lang="en-US" sz="5850" dirty="0">
                <a:solidFill>
                  <a:srgbClr val="E0D6DE"/>
                </a:solidFill>
                <a:latin typeface="Arial" panose="020B0604020202020204" pitchFamily="34" charset="0"/>
                <a:ea typeface="Sora Medium" pitchFamily="34" charset="-122"/>
                <a:cs typeface="Arial" panose="020B0604020202020204" pitchFamily="34" charset="0"/>
              </a:rPr>
              <a:t>2012</a:t>
            </a:r>
            <a:endParaRPr lang="en-US" sz="5850" dirty="0">
              <a:latin typeface="Arial" panose="020B0604020202020204" pitchFamily="34" charset="0"/>
              <a:cs typeface="Arial" panose="020B0604020202020204" pitchFamily="34" charset="0"/>
            </a:endParaRPr>
          </a:p>
        </p:txBody>
      </p:sp>
      <p:sp>
        <p:nvSpPr>
          <p:cNvPr id="4" name="Text 2"/>
          <p:cNvSpPr/>
          <p:nvPr/>
        </p:nvSpPr>
        <p:spPr>
          <a:xfrm>
            <a:off x="1436489" y="3852386"/>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E0D6DE"/>
                </a:solidFill>
                <a:latin typeface="Arial" panose="020B0604020202020204" pitchFamily="34" charset="0"/>
                <a:ea typeface="Sora Medium" pitchFamily="34" charset="-122"/>
                <a:cs typeface="Arial" panose="020B0604020202020204" pitchFamily="34" charset="0"/>
              </a:rPr>
              <a:t>CNN Breakthrough</a:t>
            </a:r>
            <a:endParaRPr lang="en-US" sz="2200" dirty="0">
              <a:latin typeface="Arial" panose="020B0604020202020204" pitchFamily="34" charset="0"/>
              <a:cs typeface="Arial" panose="020B0604020202020204" pitchFamily="34" charset="0"/>
            </a:endParaRPr>
          </a:p>
        </p:txBody>
      </p:sp>
      <p:sp>
        <p:nvSpPr>
          <p:cNvPr id="5" name="Text 3"/>
          <p:cNvSpPr/>
          <p:nvPr/>
        </p:nvSpPr>
        <p:spPr>
          <a:xfrm>
            <a:off x="793790" y="4342805"/>
            <a:ext cx="4120753" cy="362903"/>
          </a:xfrm>
          <a:prstGeom prst="rect">
            <a:avLst/>
          </a:prstGeom>
          <a:noFill/>
          <a:ln/>
        </p:spPr>
        <p:txBody>
          <a:bodyPr wrap="none" lIns="0" tIns="0" rIns="0" bIns="0" rtlCol="0" anchor="t"/>
          <a:lstStyle/>
          <a:p>
            <a:pPr marL="0" indent="0" algn="ctr">
              <a:lnSpc>
                <a:spcPts val="2850"/>
              </a:lnSpc>
              <a:buNone/>
            </a:pPr>
            <a:r>
              <a:rPr lang="en-US" sz="1750" dirty="0">
                <a:solidFill>
                  <a:srgbClr val="E0D6DE"/>
                </a:solidFill>
                <a:latin typeface="Arial" panose="020B0604020202020204" pitchFamily="34" charset="0"/>
                <a:ea typeface="Noto Sans TC" pitchFamily="34" charset="-122"/>
                <a:cs typeface="Arial" panose="020B0604020202020204" pitchFamily="34" charset="0"/>
              </a:rPr>
              <a:t>AlexNet revolutionized the field</a:t>
            </a:r>
            <a:endParaRPr lang="en-US" sz="1750" dirty="0">
              <a:latin typeface="Arial" panose="020B0604020202020204" pitchFamily="34" charset="0"/>
              <a:cs typeface="Arial" panose="020B0604020202020204" pitchFamily="34" charset="0"/>
            </a:endParaRPr>
          </a:p>
        </p:txBody>
      </p:sp>
      <p:sp>
        <p:nvSpPr>
          <p:cNvPr id="6" name="Text 4"/>
          <p:cNvSpPr/>
          <p:nvPr/>
        </p:nvSpPr>
        <p:spPr>
          <a:xfrm>
            <a:off x="5254704" y="2820591"/>
            <a:ext cx="4120872" cy="748427"/>
          </a:xfrm>
          <a:prstGeom prst="rect">
            <a:avLst/>
          </a:prstGeom>
          <a:noFill/>
          <a:ln/>
        </p:spPr>
        <p:txBody>
          <a:bodyPr wrap="none" lIns="0" tIns="0" rIns="0" bIns="0" rtlCol="0" anchor="t"/>
          <a:lstStyle/>
          <a:p>
            <a:pPr marL="0" indent="0" algn="ctr">
              <a:lnSpc>
                <a:spcPts val="5850"/>
              </a:lnSpc>
              <a:buNone/>
            </a:pPr>
            <a:r>
              <a:rPr lang="en-US" sz="5850" dirty="0">
                <a:solidFill>
                  <a:srgbClr val="E0D6DE"/>
                </a:solidFill>
                <a:latin typeface="Arial" panose="020B0604020202020204" pitchFamily="34" charset="0"/>
                <a:ea typeface="Sora Medium" pitchFamily="34" charset="-122"/>
                <a:cs typeface="Arial" panose="020B0604020202020204" pitchFamily="34" charset="0"/>
              </a:rPr>
              <a:t>16x16</a:t>
            </a:r>
            <a:endParaRPr lang="en-US" sz="5850" dirty="0">
              <a:latin typeface="Arial" panose="020B0604020202020204" pitchFamily="34" charset="0"/>
              <a:cs typeface="Arial" panose="020B0604020202020204" pitchFamily="34" charset="0"/>
            </a:endParaRPr>
          </a:p>
        </p:txBody>
      </p:sp>
      <p:sp>
        <p:nvSpPr>
          <p:cNvPr id="7" name="Text 5"/>
          <p:cNvSpPr/>
          <p:nvPr/>
        </p:nvSpPr>
        <p:spPr>
          <a:xfrm>
            <a:off x="5897523" y="3852386"/>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E0D6DE"/>
                </a:solidFill>
                <a:latin typeface="Arial" panose="020B0604020202020204" pitchFamily="34" charset="0"/>
                <a:ea typeface="Sora Medium" pitchFamily="34" charset="-122"/>
                <a:cs typeface="Arial" panose="020B0604020202020204" pitchFamily="34" charset="0"/>
              </a:rPr>
              <a:t>ViT Innovation</a:t>
            </a:r>
            <a:endParaRPr lang="en-US" sz="2200" dirty="0">
              <a:latin typeface="Arial" panose="020B0604020202020204" pitchFamily="34" charset="0"/>
              <a:cs typeface="Arial" panose="020B0604020202020204" pitchFamily="34" charset="0"/>
            </a:endParaRPr>
          </a:p>
        </p:txBody>
      </p:sp>
      <p:sp>
        <p:nvSpPr>
          <p:cNvPr id="8" name="Text 6"/>
          <p:cNvSpPr/>
          <p:nvPr/>
        </p:nvSpPr>
        <p:spPr>
          <a:xfrm>
            <a:off x="5254704" y="4342805"/>
            <a:ext cx="4120872" cy="362903"/>
          </a:xfrm>
          <a:prstGeom prst="rect">
            <a:avLst/>
          </a:prstGeom>
          <a:noFill/>
          <a:ln/>
        </p:spPr>
        <p:txBody>
          <a:bodyPr wrap="none" lIns="0" tIns="0" rIns="0" bIns="0" rtlCol="0" anchor="t"/>
          <a:lstStyle/>
          <a:p>
            <a:pPr marL="0" indent="0" algn="ctr">
              <a:lnSpc>
                <a:spcPts val="2850"/>
              </a:lnSpc>
              <a:buNone/>
            </a:pPr>
            <a:r>
              <a:rPr lang="en-US" sz="1750" dirty="0">
                <a:solidFill>
                  <a:srgbClr val="E0D6DE"/>
                </a:solidFill>
                <a:latin typeface="Arial" panose="020B0604020202020204" pitchFamily="34" charset="0"/>
                <a:ea typeface="Noto Sans TC" pitchFamily="34" charset="-122"/>
                <a:cs typeface="Arial" panose="020B0604020202020204" pitchFamily="34" charset="0"/>
              </a:rPr>
              <a:t>Image patches in Vision Transformers</a:t>
            </a:r>
            <a:endParaRPr lang="en-US" sz="1750" dirty="0">
              <a:latin typeface="Arial" panose="020B0604020202020204" pitchFamily="34" charset="0"/>
              <a:cs typeface="Arial" panose="020B0604020202020204" pitchFamily="34" charset="0"/>
            </a:endParaRPr>
          </a:p>
        </p:txBody>
      </p:sp>
      <p:sp>
        <p:nvSpPr>
          <p:cNvPr id="9" name="Text 7"/>
          <p:cNvSpPr/>
          <p:nvPr/>
        </p:nvSpPr>
        <p:spPr>
          <a:xfrm>
            <a:off x="9715738" y="2820591"/>
            <a:ext cx="4120753" cy="748427"/>
          </a:xfrm>
          <a:prstGeom prst="rect">
            <a:avLst/>
          </a:prstGeom>
          <a:noFill/>
          <a:ln/>
        </p:spPr>
        <p:txBody>
          <a:bodyPr wrap="none" lIns="0" tIns="0" rIns="0" bIns="0" rtlCol="0" anchor="t"/>
          <a:lstStyle/>
          <a:p>
            <a:pPr marL="0" indent="0" algn="ctr">
              <a:lnSpc>
                <a:spcPts val="5850"/>
              </a:lnSpc>
              <a:buNone/>
            </a:pPr>
            <a:r>
              <a:rPr lang="en-US" sz="5850" dirty="0">
                <a:solidFill>
                  <a:srgbClr val="E0D6DE"/>
                </a:solidFill>
                <a:latin typeface="Arial" panose="020B0604020202020204" pitchFamily="34" charset="0"/>
                <a:ea typeface="Sora Medium" pitchFamily="34" charset="-122"/>
                <a:cs typeface="Arial" panose="020B0604020202020204" pitchFamily="34" charset="0"/>
              </a:rPr>
              <a:t>4+</a:t>
            </a:r>
            <a:endParaRPr lang="en-US" sz="5850" dirty="0">
              <a:latin typeface="Arial" panose="020B0604020202020204" pitchFamily="34" charset="0"/>
              <a:cs typeface="Arial" panose="020B0604020202020204" pitchFamily="34" charset="0"/>
            </a:endParaRPr>
          </a:p>
        </p:txBody>
      </p:sp>
      <p:sp>
        <p:nvSpPr>
          <p:cNvPr id="10" name="Text 8"/>
          <p:cNvSpPr/>
          <p:nvPr/>
        </p:nvSpPr>
        <p:spPr>
          <a:xfrm>
            <a:off x="10358438" y="3852386"/>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E0D6DE"/>
                </a:solidFill>
                <a:latin typeface="Arial" panose="020B0604020202020204" pitchFamily="34" charset="0"/>
                <a:ea typeface="Sora Medium" pitchFamily="34" charset="-122"/>
                <a:cs typeface="Arial" panose="020B0604020202020204" pitchFamily="34" charset="0"/>
              </a:rPr>
              <a:t>Major Industries</a:t>
            </a:r>
            <a:endParaRPr lang="en-US" sz="2200" dirty="0">
              <a:latin typeface="Arial" panose="020B0604020202020204" pitchFamily="34" charset="0"/>
              <a:cs typeface="Arial" panose="020B0604020202020204" pitchFamily="34" charset="0"/>
            </a:endParaRPr>
          </a:p>
        </p:txBody>
      </p:sp>
      <p:sp>
        <p:nvSpPr>
          <p:cNvPr id="11" name="Text 9"/>
          <p:cNvSpPr/>
          <p:nvPr/>
        </p:nvSpPr>
        <p:spPr>
          <a:xfrm>
            <a:off x="9715738" y="4342805"/>
            <a:ext cx="4120753" cy="362903"/>
          </a:xfrm>
          <a:prstGeom prst="rect">
            <a:avLst/>
          </a:prstGeom>
          <a:noFill/>
          <a:ln/>
        </p:spPr>
        <p:txBody>
          <a:bodyPr wrap="none" lIns="0" tIns="0" rIns="0" bIns="0" rtlCol="0" anchor="t"/>
          <a:lstStyle/>
          <a:p>
            <a:pPr marL="0" indent="0" algn="ctr">
              <a:lnSpc>
                <a:spcPts val="2850"/>
              </a:lnSpc>
              <a:buNone/>
            </a:pPr>
            <a:r>
              <a:rPr lang="en-US" sz="1750" dirty="0">
                <a:solidFill>
                  <a:srgbClr val="E0D6DE"/>
                </a:solidFill>
                <a:latin typeface="Arial" panose="020B0604020202020204" pitchFamily="34" charset="0"/>
                <a:ea typeface="Noto Sans TC" pitchFamily="34" charset="-122"/>
                <a:cs typeface="Arial" panose="020B0604020202020204" pitchFamily="34" charset="0"/>
              </a:rPr>
              <a:t>Healthcare, transport, security, retail</a:t>
            </a:r>
            <a:endParaRPr lang="en-US" sz="1750" dirty="0">
              <a:latin typeface="Arial" panose="020B0604020202020204" pitchFamily="34" charset="0"/>
              <a:cs typeface="Arial" panose="020B0604020202020204" pitchFamily="34" charset="0"/>
            </a:endParaRPr>
          </a:p>
        </p:txBody>
      </p:sp>
      <p:sp>
        <p:nvSpPr>
          <p:cNvPr id="12" name="Text 10"/>
          <p:cNvSpPr/>
          <p:nvPr/>
        </p:nvSpPr>
        <p:spPr>
          <a:xfrm>
            <a:off x="793790" y="4960858"/>
            <a:ext cx="13042821" cy="1088708"/>
          </a:xfrm>
          <a:prstGeom prst="rect">
            <a:avLst/>
          </a:prstGeom>
          <a:noFill/>
          <a:ln/>
        </p:spPr>
        <p:txBody>
          <a:bodyPr wrap="square" lIns="0" tIns="0" rIns="0" bIns="0" rtlCol="0" anchor="t"/>
          <a:lstStyle/>
          <a:p>
            <a:pPr marL="0" indent="0" algn="l">
              <a:lnSpc>
                <a:spcPts val="2850"/>
              </a:lnSpc>
              <a:buNone/>
            </a:pPr>
            <a:r>
              <a:rPr lang="en-US" sz="2000" dirty="0">
                <a:solidFill>
                  <a:srgbClr val="E0D6DE"/>
                </a:solidFill>
                <a:latin typeface="Arial" panose="020B0604020202020204" pitchFamily="34" charset="0"/>
                <a:ea typeface="Noto Sans TC" pitchFamily="34" charset="-122"/>
                <a:cs typeface="Arial" panose="020B0604020202020204" pitchFamily="34" charset="0"/>
              </a:rPr>
              <a:t>Computer vision has evolved from an academic curiosity to a transformative technology reshaping industries and daily life. The journey from CNNs to Vision Transformers represents remarkable progress, yet significant challenges remain in creating systems that are robust, explainable, efficient, and ethical.</a:t>
            </a:r>
            <a:endParaRPr lang="en-US" sz="2000" dirty="0">
              <a:latin typeface="Arial" panose="020B0604020202020204" pitchFamily="34" charset="0"/>
              <a:cs typeface="Arial" panose="020B0604020202020204" pitchFamily="34" charset="0"/>
            </a:endParaRPr>
          </a:p>
        </p:txBody>
      </p:sp>
      <p:sp>
        <p:nvSpPr>
          <p:cNvPr id="13" name="Text 11"/>
          <p:cNvSpPr/>
          <p:nvPr/>
        </p:nvSpPr>
        <p:spPr>
          <a:xfrm>
            <a:off x="793790" y="6369605"/>
            <a:ext cx="13042821" cy="1088708"/>
          </a:xfrm>
          <a:prstGeom prst="rect">
            <a:avLst/>
          </a:prstGeom>
          <a:noFill/>
          <a:ln/>
        </p:spPr>
        <p:txBody>
          <a:bodyPr wrap="square" lIns="0" tIns="0" rIns="0" bIns="0" rtlCol="0" anchor="t"/>
          <a:lstStyle/>
          <a:p>
            <a:pPr marL="0" indent="0" algn="l">
              <a:lnSpc>
                <a:spcPts val="2850"/>
              </a:lnSpc>
              <a:buNone/>
            </a:pPr>
            <a:r>
              <a:rPr lang="en-US" sz="2000" dirty="0">
                <a:solidFill>
                  <a:srgbClr val="E0D6DE"/>
                </a:solidFill>
                <a:latin typeface="Arial" panose="020B0604020202020204" pitchFamily="34" charset="0"/>
                <a:ea typeface="Noto Sans TC" pitchFamily="34" charset="-122"/>
                <a:cs typeface="Arial" panose="020B0604020202020204" pitchFamily="34" charset="0"/>
              </a:rPr>
              <a:t>The future of computer vision isn't just about technological advancement—it's about bridging the gap between machines and the human world in ways that benefit society. As we continue developing these powerful tools, we must ensure they're designed to be safe, fair, and accessible to everyone, serving humanity's best interests rather than creating new problems.</a:t>
            </a:r>
            <a:endParaRPr lang="en-US" sz="2000" dirty="0">
              <a:latin typeface="Arial" panose="020B0604020202020204" pitchFamily="34" charset="0"/>
              <a:cs typeface="Arial" panose="020B0604020202020204" pitchFamily="34" charset="0"/>
            </a:endParaRPr>
          </a:p>
        </p:txBody>
      </p:sp>
      <p:pic>
        <p:nvPicPr>
          <p:cNvPr id="14" name="Audio Recording Apr 29, 2025 at 3:07:11 PM">
            <a:hlinkClick r:id="" action="ppaction://media"/>
            <a:extLst>
              <a:ext uri="{FF2B5EF4-FFF2-40B4-BE49-F238E27FC236}">
                <a16:creationId xmlns:a16="http://schemas.microsoft.com/office/drawing/2014/main" id="{F1D582A1-6B43-1C14-7702-F533A2AEBA8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380873" y="1685965"/>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316"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4"/>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06303-9CB5-3B57-D7CA-C096508038A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A09043D-E9FB-4520-CBD4-C1E5C8F71E28}"/>
              </a:ext>
            </a:extLst>
          </p:cNvPr>
          <p:cNvSpPr/>
          <p:nvPr/>
        </p:nvSpPr>
        <p:spPr>
          <a:xfrm>
            <a:off x="793790" y="836057"/>
            <a:ext cx="13042821" cy="1417558"/>
          </a:xfrm>
          <a:prstGeom prst="rect">
            <a:avLst/>
          </a:prstGeom>
          <a:noFill/>
          <a:ln/>
        </p:spPr>
        <p:txBody>
          <a:bodyPr wrap="square" lIns="0" tIns="0" rIns="0" bIns="0" rtlCol="0" anchor="t"/>
          <a:lstStyle/>
          <a:p>
            <a:pPr marL="0" indent="0">
              <a:lnSpc>
                <a:spcPts val="5550"/>
              </a:lnSpc>
              <a:buNone/>
            </a:pPr>
            <a:r>
              <a:rPr lang="en-US" sz="4450" b="1" dirty="0">
                <a:solidFill>
                  <a:srgbClr val="97B8FF"/>
                </a:solidFill>
                <a:latin typeface="Arial Black" panose="020B0604020202020204" pitchFamily="34" charset="0"/>
                <a:ea typeface="Sora Medium" pitchFamily="34" charset="-122"/>
                <a:cs typeface="Arial Black" panose="020B0604020202020204" pitchFamily="34" charset="0"/>
              </a:rPr>
              <a:t>References</a:t>
            </a:r>
            <a:endParaRPr lang="en-US" sz="4450" b="1" dirty="0">
              <a:latin typeface="Arial Black" panose="020B0604020202020204" pitchFamily="34" charset="0"/>
              <a:cs typeface="Arial Black" panose="020B0604020202020204" pitchFamily="34" charset="0"/>
            </a:endParaRPr>
          </a:p>
        </p:txBody>
      </p:sp>
      <p:sp>
        <p:nvSpPr>
          <p:cNvPr id="13" name="Text 11">
            <a:extLst>
              <a:ext uri="{FF2B5EF4-FFF2-40B4-BE49-F238E27FC236}">
                <a16:creationId xmlns:a16="http://schemas.microsoft.com/office/drawing/2014/main" id="{25C55EB6-0060-DE04-EF1E-EF9CD98ED4CD}"/>
              </a:ext>
            </a:extLst>
          </p:cNvPr>
          <p:cNvSpPr/>
          <p:nvPr/>
        </p:nvSpPr>
        <p:spPr>
          <a:xfrm>
            <a:off x="673768" y="1556084"/>
            <a:ext cx="13571621" cy="5902229"/>
          </a:xfrm>
          <a:prstGeom prst="rect">
            <a:avLst/>
          </a:prstGeom>
          <a:noFill/>
          <a:ln/>
        </p:spPr>
        <p:txBody>
          <a:bodyPr wrap="square" lIns="0" tIns="0" rIns="0" bIns="0" rtlCol="0" anchor="t"/>
          <a:lstStyle/>
          <a:p>
            <a:pPr marR="0" lvl="0">
              <a:lnSpc>
                <a:spcPct val="115000"/>
              </a:lnSpc>
              <a:spcAft>
                <a:spcPts val="800"/>
              </a:spcAft>
              <a:buSzPts val="1000"/>
              <a:tabLst>
                <a:tab pos="457200" algn="l"/>
              </a:tabLst>
            </a:pPr>
            <a:r>
              <a:rPr lang="en-US" sz="3200" kern="0" dirty="0" err="1">
                <a:effectLst/>
                <a:latin typeface="Arial" panose="020B0604020202020204" pitchFamily="34" charset="0"/>
                <a:ea typeface="Times New Roman" panose="02020603050405020304" pitchFamily="18" charset="0"/>
                <a:cs typeface="Arial" panose="020B0604020202020204" pitchFamily="34" charset="0"/>
              </a:rPr>
              <a:t>Krizhevsky</a:t>
            </a:r>
            <a:r>
              <a:rPr lang="en-US" sz="3200" kern="0" dirty="0">
                <a:effectLst/>
                <a:latin typeface="Arial" panose="020B0604020202020204" pitchFamily="34" charset="0"/>
                <a:ea typeface="Times New Roman" panose="02020603050405020304" pitchFamily="18" charset="0"/>
                <a:cs typeface="Arial" panose="020B0604020202020204" pitchFamily="34" charset="0"/>
              </a:rPr>
              <a:t>, (2012). "ImageNet Classification with Deep Convolutional Neural Networks." </a:t>
            </a:r>
          </a:p>
          <a:p>
            <a:pPr marR="0" lvl="0">
              <a:lnSpc>
                <a:spcPct val="115000"/>
              </a:lnSpc>
              <a:spcAft>
                <a:spcPts val="800"/>
              </a:spcAft>
              <a:buSzPts val="1000"/>
              <a:tabLst>
                <a:tab pos="457200" algn="l"/>
              </a:tabLst>
            </a:pPr>
            <a:r>
              <a:rPr lang="en-US" sz="3200" kern="0" dirty="0">
                <a:effectLst/>
                <a:latin typeface="Arial" panose="020B0604020202020204" pitchFamily="34" charset="0"/>
                <a:ea typeface="Times New Roman" panose="02020603050405020304" pitchFamily="18" charset="0"/>
                <a:cs typeface="Arial" panose="020B0604020202020204" pitchFamily="34" charset="0"/>
              </a:rPr>
              <a:t>He, K., Zhang, (2016). "Deep Residual Learning for Image Recognition." </a:t>
            </a:r>
          </a:p>
          <a:p>
            <a:pPr marR="0" lvl="0">
              <a:lnSpc>
                <a:spcPct val="115000"/>
              </a:lnSpc>
              <a:spcAft>
                <a:spcPts val="800"/>
              </a:spcAft>
              <a:buSzPts val="1000"/>
              <a:tabLst>
                <a:tab pos="457200" algn="l"/>
              </a:tabLst>
            </a:pPr>
            <a:r>
              <a:rPr lang="en-US" sz="3200" kern="0" dirty="0" err="1">
                <a:effectLst/>
                <a:latin typeface="Arial" panose="020B0604020202020204" pitchFamily="34" charset="0"/>
                <a:ea typeface="Times New Roman" panose="02020603050405020304" pitchFamily="18" charset="0"/>
                <a:cs typeface="Arial" panose="020B0604020202020204" pitchFamily="34" charset="0"/>
              </a:rPr>
              <a:t>Dosovitskiy</a:t>
            </a:r>
            <a:r>
              <a:rPr lang="en-US" sz="3200" kern="0" dirty="0">
                <a:effectLst/>
                <a:latin typeface="Arial" panose="020B0604020202020204" pitchFamily="34" charset="0"/>
                <a:ea typeface="Times New Roman" panose="02020603050405020304" pitchFamily="18" charset="0"/>
                <a:cs typeface="Arial" panose="020B0604020202020204" pitchFamily="34" charset="0"/>
              </a:rPr>
              <a:t>, (2020). "An Image is Worth 16x16 Words: Transformers for Image Recognition at Scale." </a:t>
            </a:r>
          </a:p>
          <a:p>
            <a:pPr marR="0" lvl="0">
              <a:lnSpc>
                <a:spcPct val="115000"/>
              </a:lnSpc>
              <a:spcAft>
                <a:spcPts val="800"/>
              </a:spcAft>
              <a:buSzPts val="1000"/>
              <a:tabLst>
                <a:tab pos="457200" algn="l"/>
              </a:tabLst>
            </a:pPr>
            <a:r>
              <a:rPr lang="en-US" sz="3200" kern="0" dirty="0">
                <a:effectLst/>
                <a:latin typeface="Arial" panose="020B0604020202020204" pitchFamily="34" charset="0"/>
                <a:ea typeface="Times New Roman" panose="02020603050405020304" pitchFamily="18" charset="0"/>
                <a:cs typeface="Arial" panose="020B0604020202020204" pitchFamily="34" charset="0"/>
              </a:rPr>
              <a:t>Chen, T . (2020). "A Simple Framework for Contrastive Learning of Visual Representations." </a:t>
            </a:r>
          </a:p>
          <a:p>
            <a:pPr marR="0" lvl="0">
              <a:lnSpc>
                <a:spcPct val="115000"/>
              </a:lnSpc>
              <a:spcAft>
                <a:spcPts val="800"/>
              </a:spcAft>
              <a:buSzPts val="1000"/>
              <a:tabLst>
                <a:tab pos="457200" algn="l"/>
              </a:tabLst>
            </a:pPr>
            <a:r>
              <a:rPr lang="en-US" sz="3200" kern="0" dirty="0">
                <a:effectLst/>
                <a:latin typeface="Arial" panose="020B0604020202020204" pitchFamily="34" charset="0"/>
                <a:ea typeface="Times New Roman" panose="02020603050405020304" pitchFamily="18" charset="0"/>
                <a:cs typeface="Arial" panose="020B0604020202020204" pitchFamily="34" charset="0"/>
              </a:rPr>
              <a:t>Redmon, J., (2018). "YOLOv3: An Incremental Improvement."</a:t>
            </a:r>
            <a:endParaRPr lang="en-US" sz="3200" kern="100" dirty="0">
              <a:effectLst/>
              <a:latin typeface="Arial" panose="020B0604020202020204" pitchFamily="34" charset="0"/>
              <a:ea typeface="Yu Gothic" panose="020B0400000000000000" pitchFamily="34" charset="-128"/>
              <a:cs typeface="Arial" panose="020B0604020202020204" pitchFamily="34" charset="0"/>
            </a:endParaRPr>
          </a:p>
        </p:txBody>
      </p:sp>
    </p:spTree>
    <p:extLst>
      <p:ext uri="{BB962C8B-B14F-4D97-AF65-F5344CB8AC3E}">
        <p14:creationId xmlns:p14="http://schemas.microsoft.com/office/powerpoint/2010/main" val="21266501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Quotable</Template>
  <TotalTime>640</TotalTime>
  <Words>2148</Words>
  <Application>Microsoft Macintosh PowerPoint</Application>
  <PresentationFormat>Custom</PresentationFormat>
  <Paragraphs>140</Paragraphs>
  <Slides>10</Slides>
  <Notes>10</Notes>
  <HiddenSlides>0</HiddenSlides>
  <MMClips>9</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Century Gothic</vt:lpstr>
      <vt:lpstr>Arial Black</vt:lpstr>
      <vt:lpstr>Wingdings 2</vt:lpstr>
      <vt:lpstr>Arial</vt:lpstr>
      <vt:lpstr>Quotable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Sanjar Turaev</cp:lastModifiedBy>
  <cp:revision>4</cp:revision>
  <dcterms:created xsi:type="dcterms:W3CDTF">2025-04-29T02:01:56Z</dcterms:created>
  <dcterms:modified xsi:type="dcterms:W3CDTF">2025-04-29T19:10:54Z</dcterms:modified>
</cp:coreProperties>
</file>